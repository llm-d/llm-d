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1" r:id="rId2"/>
  </p:sldMasterIdLst>
  <p:notesMasterIdLst>
    <p:notesMasterId r:id="rId29"/>
  </p:notesMasterIdLst>
  <p:sldIdLst>
    <p:sldId id="2147374681" r:id="rId3"/>
    <p:sldId id="2147478650" r:id="rId4"/>
    <p:sldId id="2147478656" r:id="rId5"/>
    <p:sldId id="2147478638" r:id="rId6"/>
    <p:sldId id="2147478657" r:id="rId7"/>
    <p:sldId id="2147478643" r:id="rId8"/>
    <p:sldId id="2147478647" r:id="rId9"/>
    <p:sldId id="2147478651" r:id="rId10"/>
    <p:sldId id="2147478648" r:id="rId11"/>
    <p:sldId id="2147478659" r:id="rId12"/>
    <p:sldId id="2147478658" r:id="rId13"/>
    <p:sldId id="2147478653" r:id="rId14"/>
    <p:sldId id="2147478654" r:id="rId15"/>
    <p:sldId id="2147478655" r:id="rId16"/>
    <p:sldId id="2147478652" r:id="rId17"/>
    <p:sldId id="2147473260" r:id="rId18"/>
    <p:sldId id="2147478641" r:id="rId19"/>
    <p:sldId id="2147478649" r:id="rId20"/>
    <p:sldId id="2147478635" r:id="rId21"/>
    <p:sldId id="2147478634" r:id="rId22"/>
    <p:sldId id="2147478633" r:id="rId23"/>
    <p:sldId id="2147478637" r:id="rId24"/>
    <p:sldId id="2147478636" r:id="rId25"/>
    <p:sldId id="2147478640" r:id="rId26"/>
    <p:sldId id="2147478646" r:id="rId27"/>
    <p:sldId id="2147478642" r:id="rId28"/>
  </p:sldIdLst>
  <p:sldSz cx="12192000" cy="6858000"/>
  <p:notesSz cx="6799263" cy="9929813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BED592-BF10-A443-9FAB-DCB1A9DB4231}">
          <p14:sldIdLst>
            <p14:sldId id="2147374681"/>
            <p14:sldId id="2147478650"/>
            <p14:sldId id="2147478656"/>
            <p14:sldId id="2147478638"/>
            <p14:sldId id="2147478657"/>
            <p14:sldId id="2147478643"/>
            <p14:sldId id="2147478647"/>
            <p14:sldId id="2147478651"/>
            <p14:sldId id="2147478648"/>
            <p14:sldId id="2147478659"/>
            <p14:sldId id="2147478658"/>
            <p14:sldId id="2147478653"/>
            <p14:sldId id="2147478654"/>
            <p14:sldId id="2147478655"/>
            <p14:sldId id="2147478652"/>
            <p14:sldId id="2147473260"/>
            <p14:sldId id="2147478641"/>
            <p14:sldId id="2147478649"/>
            <p14:sldId id="2147478635"/>
            <p14:sldId id="2147478634"/>
            <p14:sldId id="2147478633"/>
            <p14:sldId id="2147478637"/>
            <p14:sldId id="2147478636"/>
            <p14:sldId id="2147478640"/>
            <p14:sldId id="2147478646"/>
            <p14:sldId id="21474786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FD9E07-618C-4878-C29C-5A6974ABB1A9}" name="DANNY HARNIK" initials="DH" userId="S::dannyh@il.ibm.com::21bcb69a-230b-4817-b4d2-e120db2db269" providerId="AD"/>
  <p188:author id="{A453BDA9-2E1F-B0EC-E9FF-7849A555370F}" name="SHLOMIT KOYFMAN" initials="SK" userId="S::shlomitk@il.ibm.com::19dd4294-bf6f-4207-b0ac-e04097b426fd" providerId="AD"/>
  <p188:author id="{7C5C73F7-E798-505C-E5A9-0A84112E0856}" name="Alexey Roytman" initials="AR" userId="S::ROYTMAN@il.ibm.com::413aad13-55fc-4094-9356-29d2605a38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0610"/>
    <a:srgbClr val="FF9900"/>
    <a:srgbClr val="FFCC99"/>
    <a:srgbClr val="004153"/>
    <a:srgbClr val="CAE3E9"/>
    <a:srgbClr val="FFCC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1"/>
    <p:restoredTop sz="94939"/>
  </p:normalViewPr>
  <p:slideViewPr>
    <p:cSldViewPr snapToGrid="0">
      <p:cViewPr varScale="1">
        <p:scale>
          <a:sx n="136" d="100"/>
          <a:sy n="136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8/10/relationships/authors" Target="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DE48B-262B-48E7-B2B9-FBE563661020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DFEE7-DD90-44F4-A029-584ED147B1B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4345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vscode-webview://0pq4r7da6mkctmep5hij0ka584juujic5nhafm8cgldrc854vm2d/docs/wip-docs-new/architecture/core/inferencepool.md:7-11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vscode-webview://0pq4r7da6mkctmep5hij0ka584juujic5nhafm8cgldrc854vm2d/guides/workload-autoscaling/README.wva.md:98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vscode-webview://0pq4r7da6mkctmep5hij0ka584juujic5nhafm8cgldrc854vm2d/docs/wip-docs-new/architecture/core/inferencepool.md:7-11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vscode-webview://0pq4r7da6mkctmep5hij0ka584juujic5nhafm8cgldrc854vm2d/guides/workload-autoscaling/README.wva.md:98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vscode-webview://0pq4r7da6mkctmep5hij0ka584juujic5nhafm8cgldrc854vm2d/docs/wip-docs-new/architecture/core/inferencepool.md:7-11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vscode-webview://0pq4r7da6mkctmep5hij0ka584juujic5nhafm8cgldrc854vm2d/guides/workload-autoscaling/README.wva.md:98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vscode-webview://0pq4r7da6mkctmep5hij0ka584juujic5nhafm8cgldrc854vm2d/docs/wip-docs-new/architecture/core/inferencepool.md:7-11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vscode-webview://0pq4r7da6mkctmep5hij0ka584juujic5nhafm8cgldrc854vm2d/guides/workload-autoscaling/README.wva.md:98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D0594-4E60-8F4B-8226-C705B94694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charset="0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234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DCGM is Used For in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OpenCost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DCGM (NVIDIA Data Center GPU Manager) metrics provide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utilization observability and efficiency analysis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Here are the specific use cases: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Utilization Tracking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DCGM provides actual GPU usage metrics that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exposes in allocation data: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DCGM_FI_PROF_GR_ENGINE_ACTIVE → GPU utilization percentage</a:t>
            </a:r>
          </a:p>
          <a:p>
            <a:pPr lvl="1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utilization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GPUUsageAverage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Shows typical GPU load over time</a:t>
            </a:r>
          </a:p>
          <a:p>
            <a:pPr lvl="1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 utilization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GPUUsageMax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Shows peak GPU usage</a:t>
            </a:r>
          </a:p>
          <a:p>
            <a:pPr lvl="1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 in 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GPUAllocation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object for each container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Identify underutilized GPUs and optimize resource allocation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Device Identification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DCGM provides hardware-level GPU information: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DCGM_FI_DEV_DEC_UTIL → Extracts GPU metadata:</a:t>
            </a:r>
          </a:p>
          <a:p>
            <a:pPr lvl="1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 number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GPUDevice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Physical GPU index (e.g., "0", "1")</a:t>
            </a:r>
          </a:p>
          <a:p>
            <a:pPr lvl="1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name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GPUModel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GPU type (e.g., "Tesla V100", "A100-SXM4-40GB")</a:t>
            </a:r>
          </a:p>
          <a:p>
            <a:pPr lvl="1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UUID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(GPUUUID): Unique hardware identifier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Track which specific GPU hardware is being used by each container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Sharing Detection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Combined with Kubernetes metrics, DCGM helps identify GPU sharing scenarios: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Detects if multiple containers share a single GPU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 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IsGPUShared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flag (true/false/null)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Distinguishes between:</a:t>
            </a:r>
          </a:p>
          <a:p>
            <a:pPr lvl="1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Dedicated GPU allocation 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nvidia_com_gpu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GPU allocation 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nvidia_com_gpu_shared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Understand GPU multi-tenancy and sharing patterns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Efficiency Analysis &amp; Optimization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combination of cost data + DCGM utilization enables: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 per utilized GPU-hour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Compare what you pay vs. what you use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Idle GPU detection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Find GPUs with low utilization but high cost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Right-sizing recommendations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Identify workloads that don't need full GPUs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Chargeback accuracy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Show teams their actual GPU usage vs. allocation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 Use Case: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Allocated: 1 GPU (costs $2.50/hour)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Actual Usage (from DCGM): 15% average utilization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Analysis: Paying for full GPU but only using 15% → candidate for GPU sharing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DCGM is NOT Used For:</a:t>
            </a:r>
          </a:p>
          <a:p>
            <a:r>
              <a:rPr lang="en-I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 calculation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Costs are based on Kubernetes resource requests, not DCGM usage </a:t>
            </a:r>
            <a:r>
              <a:rPr lang="en-I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Billing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You're charged for GPU allocation, not utilization </a:t>
            </a:r>
            <a:r>
              <a:rPr lang="en-I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scheduling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Kubernetes scheduler uses requests/limits, not DCGM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Summary: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DCGM provides the "actual usage" layer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top of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OpenCost's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"allocated cost" layer. This enables: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FinOps teams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Identify waste and optimize GPU spending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 teams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Monitor GPU efficiency across clusters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Developers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Understand if their workloads efficiently use GPUs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See GPU ROI and utilization trends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it as: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tells you what you're paying for, DCGM tells you what you're actually using.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FEE7-DD90-44F4-A029-584ED147B1BA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4419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FEE7-DD90-44F4-A029-584ED147B1BA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1892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FEE7-DD90-44F4-A029-584ED147B1BA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715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referring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completely different model versions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(different model IDs), they should be in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InferencePool spec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requires all pods to share the same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one EPP that maintains model-specific scheduling state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models have different KV-cache patterns and optimization requirements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Different Hardware/Configuration Variants of the Same Model →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referring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(same model served with different hardware or configurations), they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share the 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the WVA use case: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different ways of serving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on different GPU types (A100 vs H100 vs L4)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with different serving configurations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with different cost/performance characteristics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WVA Works with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 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VariantAutoscaling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resources can have the same 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variant is a separate scale target (Deployment/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StatefulSet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/LWS)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variants serving the same model can be discovered by the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via label selectors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EPP routes requests across all available endpoints (from all variants)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WVA manages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variant to scale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based on cost optimization (scale up cheapest, scale down most expensive)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Both variants serve meta/llama-3.1-8b and can join the 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apiVersion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/v1alpha1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VariantAutoscaling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name: llama-8b-l4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"meta/llama-3.1-8b"  # Same model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scaleTargetRef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name: llama-8b-l4-deployment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"5.0"</a:t>
            </a:r>
          </a:p>
          <a:p>
            <a:pPr latinLnBrk="0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latinLnBrk="0"/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apiVersion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/v1alpha1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VariantAutoscaling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name: llama-8b-a100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"meta/llama-3.1-8b"  # Same model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scaleTargetRef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name: llama-8b-a100-deployment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"15.0"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deployments can use the same label (e.g.,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llm-d.ai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/model: llama-3.1-8b) and be discovered by one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WVA optimizes capacity allocation across them.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model versions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(Llama 3.1 vs 3.2) → Different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hardware 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same model → 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(with WVA managing cost-optimized scaling)</a:t>
            </a:r>
          </a:p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FEE7-DD90-44F4-A029-584ED147B1BA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0791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ffectLst/>
              </a:rPr>
              <a:t>vllm_worker_request_latency_seconds</a:t>
            </a:r>
            <a:r>
              <a:rPr lang="en-US"/>
              <a:t> </a:t>
            </a:r>
            <a:r>
              <a:rPr lang="en-US">
                <a:effectLst/>
              </a:rPr>
              <a:t>(histogram)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latency</a:t>
            </a:r>
            <a:r>
              <a:rPr lang="en-US"/>
              <a:t> </a:t>
            </a:r>
            <a:r>
              <a:rPr lang="en-US">
                <a:effectLst/>
              </a:rPr>
              <a:t>of</a:t>
            </a:r>
            <a:r>
              <a:rPr lang="en-US"/>
              <a:t> </a:t>
            </a:r>
            <a:r>
              <a:rPr lang="en-US">
                <a:effectLst/>
              </a:rPr>
              <a:t>processing</a:t>
            </a:r>
            <a:r>
              <a:rPr lang="en-US"/>
              <a:t> </a:t>
            </a:r>
            <a:r>
              <a:rPr lang="en-US">
                <a:effectLst/>
              </a:rPr>
              <a:t>requests</a:t>
            </a:r>
            <a:r>
              <a:rPr lang="en-US"/>
              <a:t> </a:t>
            </a:r>
            <a:r>
              <a:rPr lang="en-US">
                <a:effectLst/>
              </a:rPr>
              <a:t>(scheduling</a:t>
            </a:r>
            <a:r>
              <a:rPr lang="en-US"/>
              <a:t> </a:t>
            </a:r>
            <a:r>
              <a:rPr lang="en-US">
                <a:effectLst/>
              </a:rPr>
              <a:t>+</a:t>
            </a:r>
            <a:r>
              <a:rPr lang="en-US"/>
              <a:t> </a:t>
            </a:r>
            <a:r>
              <a:rPr lang="en-US">
                <a:effectLst/>
              </a:rPr>
              <a:t>execution).</a:t>
            </a:r>
            <a:r>
              <a:rPr lang="en-US"/>
              <a:t> </a:t>
            </a:r>
            <a:r>
              <a:rPr lang="en-US" err="1">
                <a:effectLst/>
              </a:rPr>
              <a:t>vllm_worker_queue_time_seconds</a:t>
            </a:r>
            <a:r>
              <a:rPr lang="en-US"/>
              <a:t> </a:t>
            </a:r>
            <a:r>
              <a:rPr lang="en-US">
                <a:effectLst/>
              </a:rPr>
              <a:t>(histogram)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time</a:t>
            </a:r>
            <a:r>
              <a:rPr lang="en-US"/>
              <a:t> </a:t>
            </a:r>
            <a:r>
              <a:rPr lang="en-US">
                <a:effectLst/>
              </a:rPr>
              <a:t>requests</a:t>
            </a:r>
            <a:r>
              <a:rPr lang="en-US"/>
              <a:t> </a:t>
            </a:r>
            <a:r>
              <a:rPr lang="en-US">
                <a:effectLst/>
              </a:rPr>
              <a:t>spend</a:t>
            </a:r>
            <a:r>
              <a:rPr lang="en-US"/>
              <a:t> </a:t>
            </a:r>
            <a:r>
              <a:rPr lang="en-US">
                <a:effectLst/>
              </a:rPr>
              <a:t>waiting</a:t>
            </a:r>
            <a:r>
              <a:rPr lang="en-US"/>
              <a:t> </a:t>
            </a:r>
            <a:r>
              <a:rPr lang="en-US">
                <a:effectLst/>
              </a:rPr>
              <a:t>in</a:t>
            </a:r>
            <a:r>
              <a:rPr lang="en-US"/>
              <a:t> </a:t>
            </a:r>
            <a:r>
              <a:rPr lang="en-US">
                <a:effectLst/>
              </a:rPr>
              <a:t>scheduler</a:t>
            </a:r>
            <a:r>
              <a:rPr lang="en-US"/>
              <a:t> </a:t>
            </a:r>
            <a:r>
              <a:rPr lang="en-US">
                <a:effectLst/>
              </a:rPr>
              <a:t>queue.</a:t>
            </a:r>
            <a:r>
              <a:rPr lang="en-US"/>
              <a:t> </a:t>
            </a:r>
            <a:r>
              <a:rPr lang="en-US" err="1">
                <a:effectLst/>
              </a:rPr>
              <a:t>vllm_worker_execution_time_seconds</a:t>
            </a:r>
            <a:r>
              <a:rPr lang="en-US"/>
              <a:t> </a:t>
            </a:r>
            <a:r>
              <a:rPr lang="en-US">
                <a:effectLst/>
              </a:rPr>
              <a:t>(histogram)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time</a:t>
            </a:r>
            <a:r>
              <a:rPr lang="en-US"/>
              <a:t> </a:t>
            </a:r>
            <a:r>
              <a:rPr lang="en-US">
                <a:effectLst/>
              </a:rPr>
              <a:t>spent</a:t>
            </a:r>
            <a:r>
              <a:rPr lang="en-US"/>
              <a:t> </a:t>
            </a:r>
            <a:r>
              <a:rPr lang="en-US">
                <a:effectLst/>
              </a:rPr>
              <a:t>actually</a:t>
            </a:r>
            <a:r>
              <a:rPr lang="en-US"/>
              <a:t> </a:t>
            </a:r>
            <a:r>
              <a:rPr lang="en-US">
                <a:effectLst/>
              </a:rPr>
              <a:t>executing</a:t>
            </a:r>
            <a:r>
              <a:rPr lang="en-US"/>
              <a:t> </a:t>
            </a:r>
            <a:r>
              <a:rPr lang="en-US">
                <a:effectLst/>
              </a:rPr>
              <a:t>model</a:t>
            </a:r>
            <a:r>
              <a:rPr lang="en-US"/>
              <a:t> </a:t>
            </a:r>
            <a:r>
              <a:rPr lang="en-US">
                <a:effectLst/>
              </a:rPr>
              <a:t>tokens.</a:t>
            </a:r>
            <a:r>
              <a:rPr lang="en-US"/>
              <a:t> </a:t>
            </a:r>
            <a:r>
              <a:rPr lang="en-US" err="1">
                <a:effectLst/>
              </a:rPr>
              <a:t>vllm_worker_tokens_processed_total</a:t>
            </a:r>
            <a:r>
              <a:rPr lang="en-US"/>
              <a:t> </a:t>
            </a:r>
            <a:r>
              <a:rPr lang="en-US">
                <a:effectLst/>
              </a:rPr>
              <a:t>(counter)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total</a:t>
            </a:r>
            <a:r>
              <a:rPr lang="en-US"/>
              <a:t> </a:t>
            </a:r>
            <a:r>
              <a:rPr lang="en-US">
                <a:effectLst/>
              </a:rPr>
              <a:t>tokens</a:t>
            </a:r>
            <a:r>
              <a:rPr lang="en-US"/>
              <a:t> </a:t>
            </a:r>
            <a:r>
              <a:rPr lang="en-US">
                <a:effectLst/>
              </a:rPr>
              <a:t>processed</a:t>
            </a:r>
            <a:r>
              <a:rPr lang="en-US"/>
              <a:t> </a:t>
            </a:r>
            <a:r>
              <a:rPr lang="en-US">
                <a:effectLst/>
              </a:rPr>
              <a:t>by</a:t>
            </a:r>
            <a:r>
              <a:rPr lang="en-US"/>
              <a:t> </a:t>
            </a:r>
            <a:r>
              <a:rPr lang="en-US">
                <a:effectLst/>
              </a:rPr>
              <a:t>workers.</a:t>
            </a:r>
            <a:r>
              <a:rPr lang="en-US"/>
              <a:t> </a:t>
            </a:r>
            <a:r>
              <a:rPr lang="en-US" err="1">
                <a:effectLst/>
              </a:rPr>
              <a:t>vllm_worker_tokens_generated_total</a:t>
            </a:r>
            <a:r>
              <a:rPr lang="en-US"/>
              <a:t> </a:t>
            </a:r>
            <a:r>
              <a:rPr lang="en-US">
                <a:effectLst/>
              </a:rPr>
              <a:t>(counter)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total</a:t>
            </a:r>
            <a:r>
              <a:rPr lang="en-US"/>
              <a:t> </a:t>
            </a:r>
            <a:r>
              <a:rPr lang="en-US">
                <a:effectLst/>
              </a:rPr>
              <a:t>tokens</a:t>
            </a:r>
            <a:r>
              <a:rPr lang="en-US"/>
              <a:t> </a:t>
            </a:r>
            <a:r>
              <a:rPr lang="en-US">
                <a:effectLst/>
              </a:rPr>
              <a:t>generated</a:t>
            </a:r>
            <a:r>
              <a:rPr lang="en-US"/>
              <a:t> </a:t>
            </a:r>
            <a:r>
              <a:rPr lang="en-US">
                <a:effectLst/>
              </a:rPr>
              <a:t>(output).</a:t>
            </a:r>
            <a:r>
              <a:rPr lang="en-US"/>
              <a:t> </a:t>
            </a:r>
            <a:r>
              <a:rPr lang="en-US" err="1">
                <a:effectLst/>
              </a:rPr>
              <a:t>vllm_worker_active_workers</a:t>
            </a:r>
            <a:r>
              <a:rPr lang="en-US"/>
              <a:t> </a:t>
            </a:r>
            <a:r>
              <a:rPr lang="en-US">
                <a:effectLst/>
              </a:rPr>
              <a:t>(gauge)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number</a:t>
            </a:r>
            <a:r>
              <a:rPr lang="en-US"/>
              <a:t> </a:t>
            </a:r>
            <a:r>
              <a:rPr lang="en-US">
                <a:effectLst/>
              </a:rPr>
              <a:t>of</a:t>
            </a:r>
            <a:r>
              <a:rPr lang="en-US"/>
              <a:t> </a:t>
            </a:r>
            <a:r>
              <a:rPr lang="en-US">
                <a:effectLst/>
              </a:rPr>
              <a:t>active</a:t>
            </a:r>
            <a:r>
              <a:rPr lang="en-US"/>
              <a:t> </a:t>
            </a:r>
            <a:r>
              <a:rPr lang="en-US">
                <a:effectLst/>
              </a:rPr>
              <a:t>worker</a:t>
            </a:r>
            <a:r>
              <a:rPr lang="en-US"/>
              <a:t> </a:t>
            </a:r>
            <a:r>
              <a:rPr lang="en-US">
                <a:effectLst/>
              </a:rPr>
              <a:t>threads/processes.</a:t>
            </a:r>
            <a:r>
              <a:rPr lang="en-US"/>
              <a:t> </a:t>
            </a:r>
            <a:r>
              <a:rPr lang="en-US" err="1">
                <a:effectLst/>
              </a:rPr>
              <a:t>vllm_worker_memory_bytes</a:t>
            </a:r>
            <a:r>
              <a:rPr lang="en-US"/>
              <a:t> </a:t>
            </a:r>
            <a:r>
              <a:rPr lang="en-US">
                <a:effectLst/>
              </a:rPr>
              <a:t>(gauge)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memory</a:t>
            </a:r>
            <a:r>
              <a:rPr lang="en-US"/>
              <a:t> </a:t>
            </a:r>
            <a:r>
              <a:rPr lang="en-US">
                <a:effectLst/>
              </a:rPr>
              <a:t>used</a:t>
            </a:r>
            <a:r>
              <a:rPr lang="en-US"/>
              <a:t> </a:t>
            </a:r>
            <a:r>
              <a:rPr lang="en-US">
                <a:effectLst/>
              </a:rPr>
              <a:t>by</a:t>
            </a:r>
            <a:r>
              <a:rPr lang="en-US"/>
              <a:t> </a:t>
            </a:r>
            <a:r>
              <a:rPr lang="en-US">
                <a:effectLst/>
              </a:rPr>
              <a:t>each</a:t>
            </a:r>
            <a:r>
              <a:rPr lang="en-US"/>
              <a:t> </a:t>
            </a:r>
            <a:r>
              <a:rPr lang="en-US">
                <a:effectLst/>
              </a:rPr>
              <a:t>worker</a:t>
            </a:r>
            <a:r>
              <a:rPr lang="en-US"/>
              <a:t> </a:t>
            </a:r>
            <a:r>
              <a:rPr lang="en-US">
                <a:effectLst/>
              </a:rPr>
              <a:t>(bytes).</a:t>
            </a:r>
            <a:r>
              <a:rPr lang="en-US"/>
              <a:t> </a:t>
            </a:r>
            <a:r>
              <a:rPr lang="en-US" err="1">
                <a:effectLst/>
              </a:rPr>
              <a:t>vllm_worker_gpu_memory_bytes</a:t>
            </a:r>
            <a:r>
              <a:rPr lang="en-US"/>
              <a:t> </a:t>
            </a:r>
            <a:r>
              <a:rPr lang="en-US">
                <a:effectLst/>
              </a:rPr>
              <a:t>(gauge)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GPU</a:t>
            </a:r>
            <a:r>
              <a:rPr lang="en-US"/>
              <a:t> </a:t>
            </a:r>
            <a:r>
              <a:rPr lang="en-US">
                <a:effectLst/>
              </a:rPr>
              <a:t>memory</a:t>
            </a:r>
            <a:r>
              <a:rPr lang="en-US"/>
              <a:t> </a:t>
            </a:r>
            <a:r>
              <a:rPr lang="en-US">
                <a:effectLst/>
              </a:rPr>
              <a:t>used</a:t>
            </a:r>
            <a:r>
              <a:rPr lang="en-US"/>
              <a:t> </a:t>
            </a:r>
            <a:r>
              <a:rPr lang="en-US">
                <a:effectLst/>
              </a:rPr>
              <a:t>(bytes)</a:t>
            </a:r>
            <a:r>
              <a:rPr lang="en-US"/>
              <a:t> </a:t>
            </a:r>
            <a:r>
              <a:rPr lang="en-US">
                <a:effectLst/>
              </a:rPr>
              <a:t>when</a:t>
            </a:r>
            <a:r>
              <a:rPr lang="en-US"/>
              <a:t> </a:t>
            </a:r>
            <a:r>
              <a:rPr lang="en-US">
                <a:effectLst/>
              </a:rPr>
              <a:t>applicable.</a:t>
            </a:r>
            <a:r>
              <a:rPr lang="en-US"/>
              <a:t> </a:t>
            </a:r>
            <a:r>
              <a:rPr lang="en-US" err="1">
                <a:effectLst/>
              </a:rPr>
              <a:t>vllm_worker_batch_size</a:t>
            </a:r>
            <a:r>
              <a:rPr lang="en-US"/>
              <a:t> </a:t>
            </a:r>
            <a:r>
              <a:rPr lang="en-US">
                <a:effectLst/>
              </a:rPr>
              <a:t>(gauge)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current</a:t>
            </a:r>
            <a:r>
              <a:rPr lang="en-US"/>
              <a:t> </a:t>
            </a:r>
            <a:r>
              <a:rPr lang="en-US">
                <a:effectLst/>
              </a:rPr>
              <a:t>inference</a:t>
            </a:r>
            <a:r>
              <a:rPr lang="en-US"/>
              <a:t> </a:t>
            </a:r>
            <a:r>
              <a:rPr lang="en-US">
                <a:effectLst/>
              </a:rPr>
              <a:t>batch</a:t>
            </a:r>
            <a:r>
              <a:rPr lang="en-US"/>
              <a:t> </a:t>
            </a:r>
            <a:r>
              <a:rPr lang="en-US">
                <a:effectLst/>
              </a:rPr>
              <a:t>size.</a:t>
            </a:r>
            <a:r>
              <a:rPr lang="en-US"/>
              <a:t> </a:t>
            </a:r>
            <a:r>
              <a:rPr lang="en-US" err="1">
                <a:effectLst/>
              </a:rPr>
              <a:t>vllm_worker_batching_wait_time_seconds</a:t>
            </a:r>
            <a:r>
              <a:rPr lang="en-US"/>
              <a:t> </a:t>
            </a:r>
            <a:r>
              <a:rPr lang="en-US">
                <a:effectLst/>
              </a:rPr>
              <a:t>(histogram)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time</a:t>
            </a:r>
            <a:r>
              <a:rPr lang="en-US"/>
              <a:t> </a:t>
            </a:r>
            <a:r>
              <a:rPr lang="en-US">
                <a:effectLst/>
              </a:rPr>
              <a:t>spent</a:t>
            </a:r>
            <a:r>
              <a:rPr lang="en-US"/>
              <a:t> </a:t>
            </a:r>
            <a:r>
              <a:rPr lang="en-US">
                <a:effectLst/>
              </a:rPr>
              <a:t>waiting</a:t>
            </a:r>
            <a:r>
              <a:rPr lang="en-US"/>
              <a:t> </a:t>
            </a:r>
            <a:r>
              <a:rPr lang="en-US">
                <a:effectLst/>
              </a:rPr>
              <a:t>to</a:t>
            </a:r>
            <a:r>
              <a:rPr lang="en-US"/>
              <a:t> </a:t>
            </a:r>
            <a:r>
              <a:rPr lang="en-US">
                <a:effectLst/>
              </a:rPr>
              <a:t>form</a:t>
            </a:r>
            <a:r>
              <a:rPr lang="en-US"/>
              <a:t> </a:t>
            </a:r>
            <a:r>
              <a:rPr lang="en-US">
                <a:effectLst/>
              </a:rPr>
              <a:t>batches.</a:t>
            </a:r>
            <a:r>
              <a:rPr lang="en-US"/>
              <a:t> </a:t>
            </a:r>
            <a:r>
              <a:rPr lang="en-US" err="1">
                <a:effectLst/>
              </a:rPr>
              <a:t>vllm_worker_request_count_total</a:t>
            </a:r>
            <a:r>
              <a:rPr lang="en-US"/>
              <a:t> </a:t>
            </a:r>
            <a:r>
              <a:rPr lang="en-US">
                <a:effectLst/>
              </a:rPr>
              <a:t>(counter)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total</a:t>
            </a:r>
            <a:r>
              <a:rPr lang="en-US"/>
              <a:t> </a:t>
            </a:r>
            <a:r>
              <a:rPr lang="en-US">
                <a:effectLst/>
              </a:rPr>
              <a:t>number</a:t>
            </a:r>
            <a:r>
              <a:rPr lang="en-US"/>
              <a:t> </a:t>
            </a:r>
            <a:r>
              <a:rPr lang="en-US">
                <a:effectLst/>
              </a:rPr>
              <a:t>of</a:t>
            </a:r>
            <a:r>
              <a:rPr lang="en-US"/>
              <a:t> </a:t>
            </a:r>
            <a:r>
              <a:rPr lang="en-US">
                <a:effectLst/>
              </a:rPr>
              <a:t>requests</a:t>
            </a:r>
            <a:r>
              <a:rPr lang="en-US"/>
              <a:t> </a:t>
            </a:r>
            <a:r>
              <a:rPr lang="en-US">
                <a:effectLst/>
              </a:rPr>
              <a:t>handled.</a:t>
            </a:r>
            <a:r>
              <a:rPr lang="en-US"/>
              <a:t> </a:t>
            </a:r>
            <a:r>
              <a:rPr lang="en-US" err="1">
                <a:effectLst/>
              </a:rPr>
              <a:t>vllm_worker_request_errors_total</a:t>
            </a:r>
            <a:r>
              <a:rPr lang="en-US"/>
              <a:t> </a:t>
            </a:r>
            <a:r>
              <a:rPr lang="en-US">
                <a:effectLst/>
              </a:rPr>
              <a:t>(counter)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number</a:t>
            </a:r>
            <a:r>
              <a:rPr lang="en-US"/>
              <a:t> </a:t>
            </a:r>
            <a:r>
              <a:rPr lang="en-US">
                <a:effectLst/>
              </a:rPr>
              <a:t>of</a:t>
            </a:r>
            <a:r>
              <a:rPr lang="en-US"/>
              <a:t> </a:t>
            </a:r>
            <a:r>
              <a:rPr lang="en-US">
                <a:effectLst/>
              </a:rPr>
              <a:t>errored</a:t>
            </a:r>
            <a:r>
              <a:rPr lang="en-US"/>
              <a:t> </a:t>
            </a:r>
            <a:r>
              <a:rPr lang="en-US">
                <a:effectLst/>
              </a:rPr>
              <a:t>requests.</a:t>
            </a:r>
            <a:r>
              <a:rPr lang="en-US"/>
              <a:t> </a:t>
            </a:r>
            <a:r>
              <a:rPr lang="en-US" err="1">
                <a:effectLst/>
              </a:rPr>
              <a:t>vllm_worker_model_load_time_seconds</a:t>
            </a:r>
            <a:r>
              <a:rPr lang="en-US"/>
              <a:t> </a:t>
            </a:r>
            <a:r>
              <a:rPr lang="en-US">
                <a:effectLst/>
              </a:rPr>
              <a:t>(gauge</a:t>
            </a:r>
            <a:r>
              <a:rPr lang="en-US"/>
              <a:t> </a:t>
            </a:r>
            <a:r>
              <a:rPr lang="en-US">
                <a:effectLst/>
              </a:rPr>
              <a:t>or</a:t>
            </a:r>
            <a:r>
              <a:rPr lang="en-US"/>
              <a:t> </a:t>
            </a:r>
            <a:r>
              <a:rPr lang="en-US">
                <a:effectLst/>
              </a:rPr>
              <a:t>histogram)</a:t>
            </a:r>
            <a:r>
              <a:rPr lang="en-US"/>
              <a:t> </a:t>
            </a:r>
            <a:r>
              <a:rPr lang="en-US">
                <a:effectLst/>
              </a:rPr>
              <a:t>—</a:t>
            </a:r>
            <a:r>
              <a:rPr lang="en-US"/>
              <a:t> </a:t>
            </a:r>
            <a:r>
              <a:rPr lang="en-US">
                <a:effectLst/>
              </a:rPr>
              <a:t>time</a:t>
            </a:r>
            <a:r>
              <a:rPr lang="en-US"/>
              <a:t> </a:t>
            </a:r>
            <a:r>
              <a:rPr lang="en-US">
                <a:effectLst/>
              </a:rPr>
              <a:t>to</a:t>
            </a:r>
            <a:r>
              <a:rPr lang="en-US"/>
              <a:t> </a:t>
            </a:r>
            <a:r>
              <a:rPr lang="en-US">
                <a:effectLst/>
              </a:rPr>
              <a:t>load</a:t>
            </a:r>
            <a:r>
              <a:rPr lang="en-US"/>
              <a:t> </a:t>
            </a:r>
            <a:r>
              <a:rPr lang="en-US">
                <a:effectLst/>
              </a:rPr>
              <a:t>models</a:t>
            </a:r>
            <a:r>
              <a:rPr lang="en-US"/>
              <a:t> </a:t>
            </a:r>
            <a:r>
              <a:rPr lang="en-US">
                <a:effectLst/>
              </a:rPr>
              <a:t>into</a:t>
            </a:r>
            <a:r>
              <a:rPr lang="en-US"/>
              <a:t> </a:t>
            </a:r>
            <a:r>
              <a:rPr lang="en-US">
                <a:effectLst/>
              </a:rPr>
              <a:t>workers</a:t>
            </a:r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FEE7-DD90-44F4-A029-584ED147B1BA}" type="slidenum">
              <a:rPr lang="en-IL" smtClean="0"/>
              <a:t>22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2284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806B-BAD6-0873-A19F-A92044C4B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5C781-E816-59BE-BB7B-72C13EF78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80CCD-8119-6D31-1E7A-622F7A884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referring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completely different model versions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(different model IDs), they should be in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InferencePool spec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requires all pods to share the same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one EPP that maintains model-specific scheduling state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models have different KV-cache patterns and optimization requirements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Hardware/Configuration Variants of the Same Model →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referring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(same model served with different hardware or configurations), they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share the 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the WVA use case: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different ways of serving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on different GPU types (A100 vs H100 vs L4)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with different serving configurations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with different cost/performance characteristics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WVA Works with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 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VariantAutoscaling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resources can have the same 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variant is a separate scale target (Deployment/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StatefulSet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/LWS)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variants serving the same model can be discovered by the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via label selectors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EPP routes requests across all available endpoints (from all variants)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WVA manages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variant to scale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based on cost optimization (scale up cheapest, scale down most expensive)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Both variants serve meta/llama-3.1-8b and can join the 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apiVersion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/v1alpha1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VariantAutoscaling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name: llama-8b-l4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"meta/llama-3.1-8b"  # Same model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scaleTargetRef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name: llama-8b-l4-deployment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"5.0"</a:t>
            </a:r>
          </a:p>
          <a:p>
            <a:pPr latinLnBrk="0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latinLnBrk="0"/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apiVersion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/v1alpha1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VariantAutoscaling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name: llama-8b-a100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"meta/llama-3.1-8b"  # Same model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scaleTargetRef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name: llama-8b-a100-deployment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"15.0"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deployments can use the same label (e.g.,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llm-d.ai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/model: llama-3.1-8b) and be discovered by one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WVA optimizes capacity allocation across them.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model versions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(Llama 3.1 vs 3.2) → Different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hardware 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same model → 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(with WVA managing cost-optimized scaling)</a:t>
            </a:r>
          </a:p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14206-833F-12AC-51B0-DFCD2DBF9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FEE7-DD90-44F4-A029-584ED147B1BA}" type="slidenum">
              <a:rPr lang="en-IL" smtClean="0"/>
              <a:t>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60936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40B2-6510-61BB-DB20-644D0382E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536E8-6779-68B8-1E07-BF497B96B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EB753-B0A7-BB4F-459E-794FCC09A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referring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completely different model versions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(different model IDs), they should be in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InferencePool spec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requires all pods to share the same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one EPP that maintains model-specific scheduling state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models have different KV-cache patterns and optimization requirements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Different Hardware/Configuration Variants of the Same Model →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referring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(same model served with different hardware or configurations), they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share the 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the WVA use case: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different ways of serving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on different GPU types (A100 vs H100 vs L4)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with different serving configurations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with different cost/performance characteristics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WVA Works with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 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VariantAutoscaling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resources can have the same 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variant is a separate scale target (Deployment/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StatefulSet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/LWS)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variants serving the same model can be discovered by the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via label selectors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EPP routes requests across all available endpoints (from all variants)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WVA manages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variant to scale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based on cost optimization (scale up cheapest, scale down most expensive)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Both variants serve meta/llama-3.1-8b and can join the 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apiVersion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/v1alpha1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VariantAutoscaling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name: llama-8b-l4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"meta/llama-3.1-8b"  # Same model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scaleTargetRef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name: llama-8b-l4-deployment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"5.0"</a:t>
            </a:r>
          </a:p>
          <a:p>
            <a:pPr latinLnBrk="0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latinLnBrk="0"/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apiVersion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/v1alpha1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VariantAutoscaling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name: llama-8b-a100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"meta/llama-3.1-8b"  # Same model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scaleTargetRef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name: llama-8b-a100-deployment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"15.0"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deployments can use the same label (e.g.,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llm-d.ai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/model: llama-3.1-8b) and be discovered by one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WVA optimizes capacity allocation across them.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model versions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(Llama 3.1 vs 3.2) → Different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hardware 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same model → 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(with WVA managing cost-optimized scaling)</a:t>
            </a:r>
          </a:p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1B232-4BCA-4FCF-BC47-FBCDABDF1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FEE7-DD90-44F4-A029-584ED147B1BA}" type="slidenum">
              <a:rPr lang="en-IL" smtClean="0"/>
              <a:t>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4048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EF5C0-2F99-9B3F-EA81-EAC66B94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7562B-5592-7E8C-0296-DB3351CF2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44CD9-5401-3A52-BF14-C3B378660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referring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completely different model versions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(different model IDs), they should be in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InferencePool spec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requires all pods to share the same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one EPP that maintains model-specific scheduling state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models have different KV-cache patterns and optimization requirements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Different Hardware/Configuration Variants of the Same Model →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referring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(same model served with different hardware or configurations), they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share the 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the WVA use case: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different ways of serving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on different GPU types (A100 vs H100 vs L4)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with different serving configurations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model with different cost/performance characteristics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WVA Works with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 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VariantAutoscaling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resources can have the same 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variant is a separate scale target (Deployment/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StatefulSet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/LWS)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variants serving the same model can be discovered by the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via label selectors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EPP routes requests across all available endpoints (from all variants)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WVA manages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variant to scale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based on cost optimization (scale up cheapest, scale down most expensive)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Both variants serve meta/llama-3.1-8b and can join the 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apiVersion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/v1alpha1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VariantAutoscaling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name: llama-8b-l4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"meta/llama-3.1-8b"  # Same model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scaleTargetRef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name: llama-8b-l4-deployment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"5.0"</a:t>
            </a:r>
          </a:p>
          <a:p>
            <a:pPr latinLnBrk="0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latinLnBrk="0"/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apiVersion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/v1alpha1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kind: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VariantAutoscaling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name: llama-8b-a100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"meta/llama-3.1-8b"  # Same model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scaleTargetRef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name: llama-8b-a100-deployment</a:t>
            </a:r>
          </a:p>
          <a:p>
            <a:pPr latinLnBrk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variantCost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"15.0"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deployments can use the same label (e.g.,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llm-d.ai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/model: llama-3.1-8b) and be discovered by one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WVA optimizes capacity allocation across them.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model versions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(Llama 3.1 vs 3.2) → Different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hardware variants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same model → Same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InferencePool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(with WVA managing cost-optimized scaling)</a:t>
            </a:r>
          </a:p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24F10-E264-3D35-D057-2256CA34C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FEE7-DD90-44F4-A029-584ED147B1BA}" type="slidenum">
              <a:rPr lang="en-IL" smtClean="0"/>
              <a:t>26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6890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048000" y="-1"/>
            <a:ext cx="9144000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714500"/>
            <a:ext cx="2476500" cy="3048000"/>
          </a:xfrm>
        </p:spPr>
        <p:txBody>
          <a:bodyPr tIns="22860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30497A-68F6-C64F-AF30-9A43FCFC10A9}"/>
              </a:ext>
            </a:extLst>
          </p:cNvPr>
          <p:cNvCxnSpPr>
            <a:cxnSpLocks/>
          </p:cNvCxnSpPr>
          <p:nvPr userDrawn="1"/>
        </p:nvCxnSpPr>
        <p:spPr>
          <a:xfrm>
            <a:off x="3048000" y="0"/>
            <a:ext cx="0" cy="687705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46DD61B0-7F6B-524E-8D61-4BA602E49DC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97250" y="3102807"/>
            <a:ext cx="8445493" cy="689064"/>
          </a:xfrm>
        </p:spPr>
        <p:txBody>
          <a:bodyPr tIns="0" anchor="t"/>
          <a:lstStyle>
            <a:lvl1pPr>
              <a:defRPr sz="2333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9CCCB26E-5384-764C-8F28-3A1B729E93B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397250" y="5143500"/>
            <a:ext cx="1493913" cy="608233"/>
          </a:xfrm>
        </p:spPr>
        <p:txBody>
          <a:bodyPr/>
          <a:lstStyle>
            <a:lvl1pPr>
              <a:defRPr sz="15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Month XX, XXXX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DD48D-6F28-A648-9100-BB22D888EB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7251" y="2159000"/>
            <a:ext cx="8445499" cy="762000"/>
          </a:xfrm>
        </p:spPr>
        <p:txBody>
          <a:bodyPr anchor="ctr"/>
          <a:lstStyle>
            <a:lvl1pPr>
              <a:defRPr sz="4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BF7B5-A477-F44C-AAB3-A2A4D37F6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5190" y="6284866"/>
            <a:ext cx="475810" cy="192134"/>
          </a:xfrm>
          <a:prstGeom prst="rect">
            <a:avLst/>
          </a:prstGeom>
        </p:spPr>
      </p:pic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F92B8DD-2109-9747-B803-4DD72304617C}"/>
              </a:ext>
            </a:extLst>
          </p:cNvPr>
          <p:cNvSpPr txBox="1">
            <a:spLocks/>
          </p:cNvSpPr>
          <p:nvPr userDrawn="1"/>
        </p:nvSpPr>
        <p:spPr>
          <a:xfrm>
            <a:off x="1" y="0"/>
            <a:ext cx="3147054" cy="6858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905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2AF6FC-469E-87D2-FF8A-F31ED92A8EE4}"/>
              </a:ext>
            </a:extLst>
          </p:cNvPr>
          <p:cNvSpPr txBox="1"/>
          <p:nvPr userDrawn="1"/>
        </p:nvSpPr>
        <p:spPr>
          <a:xfrm>
            <a:off x="6993123" y="6528873"/>
            <a:ext cx="2051824" cy="27878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18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383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- Grey Horizontal 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aser&#10;&#10;Description automatically generated">
            <a:extLst>
              <a:ext uri="{FF2B5EF4-FFF2-40B4-BE49-F238E27FC236}">
                <a16:creationId xmlns:a16="http://schemas.microsoft.com/office/drawing/2014/main" id="{64EFD2F2-A41B-BC45-A0D8-146211311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5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64920"/>
            <a:ext cx="12192000" cy="583942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7A009B8-4E5F-2D48-BFFE-3F5E33AEDF8A}"/>
              </a:ext>
            </a:extLst>
          </p:cNvPr>
          <p:cNvSpPr txBox="1">
            <a:spLocks/>
          </p:cNvSpPr>
          <p:nvPr userDrawn="1"/>
        </p:nvSpPr>
        <p:spPr>
          <a:xfrm>
            <a:off x="0" y="2827189"/>
            <a:ext cx="12192000" cy="1143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524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44500" y="220980"/>
            <a:ext cx="5486400" cy="228600"/>
          </a:xfrm>
        </p:spPr>
        <p:txBody>
          <a:bodyPr lIns="0" tIns="0" rIns="0">
            <a:noAutofit/>
          </a:bodyPr>
          <a:lstStyle>
            <a:lvl1pPr>
              <a:defRPr sz="1333"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396329-672C-114D-AC0A-6285EA3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98689"/>
            <a:ext cx="11430000" cy="5715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9FEBD-68F3-4CC3-4CE0-3CCABACD77DF}"/>
              </a:ext>
            </a:extLst>
          </p:cNvPr>
          <p:cNvSpPr txBox="1"/>
          <p:nvPr userDrawn="1"/>
        </p:nvSpPr>
        <p:spPr>
          <a:xfrm>
            <a:off x="10745004" y="6675458"/>
            <a:ext cx="3824817" cy="182542"/>
          </a:xfrm>
          <a:prstGeom prst="rect">
            <a:avLst/>
          </a:prstGeom>
        </p:spPr>
        <p:txBody>
          <a:bodyPr wrap="square" lIns="76200" tIns="38100" rIns="76200" bIns="38100" rtlCol="0">
            <a:noAutofit/>
          </a:bodyPr>
          <a:lstStyle/>
          <a:p>
            <a:pPr>
              <a:lnSpc>
                <a:spcPct val="105000"/>
              </a:lnSpc>
              <a:spcBef>
                <a:spcPts val="833"/>
              </a:spcBef>
            </a:pPr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Confidential | </a:t>
            </a:r>
            <a:fld id="{3FD999D4-B456-9943-89B7-30D56181CE18}" type="slidenum">
              <a:rPr lang="en-US" sz="1000" smtClean="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pPr>
                <a:lnSpc>
                  <a:spcPct val="105000"/>
                </a:lnSpc>
                <a:spcBef>
                  <a:spcPts val="833"/>
                </a:spcBef>
              </a:pPr>
              <a:t>‹#›</a:t>
            </a:fld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9801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- Grey Horizontal 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aser&#10;&#10;Description automatically generated">
            <a:extLst>
              <a:ext uri="{FF2B5EF4-FFF2-40B4-BE49-F238E27FC236}">
                <a16:creationId xmlns:a16="http://schemas.microsoft.com/office/drawing/2014/main" id="{64EFD2F2-A41B-BC45-A0D8-146211311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5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64920"/>
            <a:ext cx="12192000" cy="583942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7A009B8-4E5F-2D48-BFFE-3F5E33AEDF8A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1143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524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44500" y="220980"/>
            <a:ext cx="5486400" cy="228600"/>
          </a:xfrm>
        </p:spPr>
        <p:txBody>
          <a:bodyPr lIns="0" tIns="0" rIns="0">
            <a:noAutofit/>
          </a:bodyPr>
          <a:lstStyle>
            <a:lvl1pPr>
              <a:defRPr sz="1333"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396329-672C-114D-AC0A-6285EA3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5715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9FEBD-68F3-4CC3-4CE0-3CCABACD77DF}"/>
              </a:ext>
            </a:extLst>
          </p:cNvPr>
          <p:cNvSpPr txBox="1"/>
          <p:nvPr userDrawn="1"/>
        </p:nvSpPr>
        <p:spPr>
          <a:xfrm>
            <a:off x="10745004" y="6675458"/>
            <a:ext cx="3824817" cy="182542"/>
          </a:xfrm>
          <a:prstGeom prst="rect">
            <a:avLst/>
          </a:prstGeom>
        </p:spPr>
        <p:txBody>
          <a:bodyPr wrap="square" lIns="76200" tIns="38100" rIns="76200" bIns="38100" rtlCol="0">
            <a:noAutofit/>
          </a:bodyPr>
          <a:lstStyle/>
          <a:p>
            <a:pPr>
              <a:lnSpc>
                <a:spcPct val="105000"/>
              </a:lnSpc>
              <a:spcBef>
                <a:spcPts val="833"/>
              </a:spcBef>
            </a:pPr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Confidential | </a:t>
            </a:r>
            <a:fld id="{3FD999D4-B456-9943-89B7-30D56181CE18}" type="slidenum">
              <a:rPr lang="en-US" sz="1000" smtClean="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pPr>
                <a:lnSpc>
                  <a:spcPct val="105000"/>
                </a:lnSpc>
                <a:spcBef>
                  <a:spcPts val="833"/>
                </a:spcBef>
              </a:pPr>
              <a:t>‹#›</a:t>
            </a:fld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6736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659008" y="1141197"/>
            <a:ext cx="10873955" cy="5142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0" kern="1200" baseline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1">
                  <a:lumMod val="25000"/>
                  <a:lumOff val="75000"/>
                </a:schemeClr>
              </a:buClr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 bwMode="gray">
          <a:xfrm>
            <a:off x="11037663" y="6403940"/>
            <a:ext cx="495300" cy="1881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IL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0E7AA-C44B-426E-B459-FAE63DF6B45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59007" y="6403940"/>
            <a:ext cx="8896889" cy="18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IL"/>
            </a:defPPr>
            <a:lvl1pPr marL="0" algn="l" defTabSz="914400" rtl="0" eaLnBrk="1" latinLnBrk="0" hangingPunct="1">
              <a:defRPr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2D2BF4-B73D-41D9-ABBC-BA54F524221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59008" y="325235"/>
            <a:ext cx="10873955" cy="8172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2800" b="1" kern="1200" baseline="0">
                <a:solidFill>
                  <a:schemeClr val="tx2"/>
                </a:solidFill>
                <a:latin typeface="+mj-lt"/>
                <a:ea typeface="+mj-ea"/>
                <a:cs typeface="ING Me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518AE9-A05C-440E-B9E1-876EC28E1BD0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DF109D-A8C2-4886-80B0-048F765CAB37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480695D-2895-4499-A20D-9E1A9EEDC854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FDDD35E-C14B-4A25-8CDC-FF3D2C373200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15" name="Rectangle 104">
                    <a:extLst>
                      <a:ext uri="{FF2B5EF4-FFF2-40B4-BE49-F238E27FC236}">
                        <a16:creationId xmlns:a16="http://schemas.microsoft.com/office/drawing/2014/main" id="{D5CE5D8E-9FD9-4A5B-89EB-A650D1C27F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/>
                  </a:p>
                </p:txBody>
              </p:sp>
              <p:sp>
                <p:nvSpPr>
                  <p:cNvPr id="16" name="Rectangle 113">
                    <a:extLst>
                      <a:ext uri="{FF2B5EF4-FFF2-40B4-BE49-F238E27FC236}">
                        <a16:creationId xmlns:a16="http://schemas.microsoft.com/office/drawing/2014/main" id="{A06B4935-D494-4304-AC9F-CD1905ED11B3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14" name="Rectangle 106">
                  <a:extLst>
                    <a:ext uri="{FF2B5EF4-FFF2-40B4-BE49-F238E27FC236}">
                      <a16:creationId xmlns:a16="http://schemas.microsoft.com/office/drawing/2014/main" id="{0FBBC0EA-00FB-4241-8D08-083F6FF05D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/>
                    <a:t>Create your own graphs much easier and on brand by using graph templates.</a:t>
                  </a:r>
                  <a:br>
                    <a:rPr lang="en-US" altLang="en-US" sz="1000" b="0"/>
                  </a:br>
                  <a:br>
                    <a:rPr lang="en-US" altLang="en-US" sz="1000" b="0"/>
                  </a:br>
                  <a:r>
                    <a:rPr lang="en-US" altLang="en-US" sz="1000" b="0"/>
                    <a:t>After you click on the graph icon on your template slide, </a:t>
                  </a:r>
                  <a:br>
                    <a:rPr lang="en-US" altLang="en-US" sz="1000" b="0"/>
                  </a:br>
                  <a:br>
                    <a:rPr lang="en-US" altLang="en-US" sz="1000" b="0"/>
                  </a:br>
                  <a:br>
                    <a:rPr lang="en-US" altLang="en-US" sz="1000" b="0"/>
                  </a:br>
                  <a:br>
                    <a:rPr lang="en-US" altLang="en-US" sz="1000" b="0"/>
                  </a:br>
                  <a:br>
                    <a:rPr lang="en-US" altLang="en-US" sz="1000" b="0"/>
                  </a:br>
                  <a:br>
                    <a:rPr lang="en-US" altLang="en-US" sz="1000" b="0"/>
                  </a:br>
                  <a:br>
                    <a:rPr lang="en-US" altLang="en-US" sz="1000" b="0"/>
                  </a:br>
                  <a:br>
                    <a:rPr lang="en-US" altLang="en-US" sz="1000" b="0"/>
                  </a:br>
                  <a:br>
                    <a:rPr lang="en-US" altLang="en-US" sz="1000" b="0"/>
                  </a:br>
                  <a:r>
                    <a:rPr lang="en-US" altLang="en-US" sz="1000" b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BEBDEE9-4DE3-4572-9ED1-61CE6B32A51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FB253F-6D46-44AA-A75D-74AAE0E0BC05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521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- Grey Horizontal 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laser&#10;&#10;Description automatically generated">
            <a:extLst>
              <a:ext uri="{FF2B5EF4-FFF2-40B4-BE49-F238E27FC236}">
                <a16:creationId xmlns:a16="http://schemas.microsoft.com/office/drawing/2014/main" id="{330384ED-B313-F142-8425-78F72A1D5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5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64920"/>
            <a:ext cx="12192000" cy="583942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7A009B8-4E5F-2D48-BFFE-3F5E33AEDF8A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1651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905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lIns="91440" tIns="0" rIns="0">
            <a:noAutofit/>
          </a:bodyPr>
          <a:lstStyle>
            <a:lvl1pPr>
              <a:defRPr sz="1333"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396329-672C-114D-AC0A-6285EA3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500"/>
            <a:ext cx="9715500" cy="5715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50EDD-66D3-06EB-8DD5-04F2A17BD2D6}"/>
              </a:ext>
            </a:extLst>
          </p:cNvPr>
          <p:cNvSpPr txBox="1"/>
          <p:nvPr userDrawn="1"/>
        </p:nvSpPr>
        <p:spPr>
          <a:xfrm>
            <a:off x="10633492" y="6675458"/>
            <a:ext cx="3824817" cy="182542"/>
          </a:xfrm>
          <a:prstGeom prst="rect">
            <a:avLst/>
          </a:prstGeom>
        </p:spPr>
        <p:txBody>
          <a:bodyPr wrap="square" lIns="76200" tIns="38100" rIns="76200" bIns="38100" rtlCol="0">
            <a:noAutofit/>
          </a:bodyPr>
          <a:lstStyle/>
          <a:p>
            <a:pPr>
              <a:lnSpc>
                <a:spcPct val="105000"/>
              </a:lnSpc>
              <a:spcBef>
                <a:spcPts val="833"/>
              </a:spcBef>
            </a:pPr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Confidential | </a:t>
            </a:r>
            <a:fld id="{3FD999D4-B456-9943-89B7-30D56181CE18}" type="slidenum">
              <a:rPr lang="en-US" sz="1000" smtClean="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pPr>
                <a:lnSpc>
                  <a:spcPct val="105000"/>
                </a:lnSpc>
                <a:spcBef>
                  <a:spcPts val="833"/>
                </a:spcBef>
              </a:pPr>
              <a:t>‹#›</a:t>
            </a:fld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6180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- Grey Horizontal 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7A009B8-4E5F-2D48-BFFE-3F5E33AEDF8A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1270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905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lIns="91440" tIns="0" rIns="0">
            <a:noAutofit/>
          </a:bodyPr>
          <a:lstStyle>
            <a:lvl1pPr>
              <a:defRPr sz="1333"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76450B-4C20-004B-B0A8-347099AEFA62}"/>
              </a:ext>
            </a:extLst>
          </p:cNvPr>
          <p:cNvSpPr txBox="1"/>
          <p:nvPr userDrawn="1"/>
        </p:nvSpPr>
        <p:spPr>
          <a:xfrm>
            <a:off x="10510829" y="6675458"/>
            <a:ext cx="3824817" cy="182542"/>
          </a:xfrm>
          <a:prstGeom prst="rect">
            <a:avLst/>
          </a:prstGeom>
        </p:spPr>
        <p:txBody>
          <a:bodyPr wrap="square" lIns="76200" tIns="38100" rIns="76200" bIns="38100" rtlCol="0">
            <a:noAutofit/>
          </a:bodyPr>
          <a:lstStyle/>
          <a:p>
            <a:pPr>
              <a:lnSpc>
                <a:spcPct val="105000"/>
              </a:lnSpc>
              <a:spcBef>
                <a:spcPts val="833"/>
              </a:spcBef>
            </a:pPr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Confidential | </a:t>
            </a:r>
            <a:fld id="{3FD999D4-B456-9943-89B7-30D56181CE18}" type="slidenum">
              <a:rPr lang="en-US" sz="1000" smtClean="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pPr>
                <a:lnSpc>
                  <a:spcPct val="105000"/>
                </a:lnSpc>
                <a:spcBef>
                  <a:spcPts val="833"/>
                </a:spcBef>
              </a:pPr>
              <a:t>‹#›</a:t>
            </a:fld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396329-672C-114D-AC0A-6285EA3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5715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picture containing laser&#10;&#10;Description automatically generated">
            <a:extLst>
              <a:ext uri="{FF2B5EF4-FFF2-40B4-BE49-F238E27FC236}">
                <a16:creationId xmlns:a16="http://schemas.microsoft.com/office/drawing/2014/main" id="{8FED3842-B0E5-6648-BCA4-0DC23ABA8D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5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64920"/>
            <a:ext cx="12192000" cy="522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74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- Grey Horizontal 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7A009B8-4E5F-2D48-BFFE-3F5E33AEDF8A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1270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905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lIns="0" tIns="0" rIns="0">
            <a:noAutofit/>
          </a:bodyPr>
          <a:lstStyle>
            <a:lvl1pPr>
              <a:defRPr sz="1333"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76450B-4C20-004B-B0A8-347099AEFA62}"/>
              </a:ext>
            </a:extLst>
          </p:cNvPr>
          <p:cNvSpPr txBox="1"/>
          <p:nvPr userDrawn="1"/>
        </p:nvSpPr>
        <p:spPr>
          <a:xfrm>
            <a:off x="10521980" y="6675458"/>
            <a:ext cx="3824817" cy="182542"/>
          </a:xfrm>
          <a:prstGeom prst="rect">
            <a:avLst/>
          </a:prstGeom>
        </p:spPr>
        <p:txBody>
          <a:bodyPr wrap="square" lIns="76200" tIns="38100" rIns="76200" bIns="38100" rtlCol="0">
            <a:noAutofit/>
          </a:bodyPr>
          <a:lstStyle/>
          <a:p>
            <a:pPr>
              <a:lnSpc>
                <a:spcPct val="105000"/>
              </a:lnSpc>
              <a:spcBef>
                <a:spcPts val="833"/>
              </a:spcBef>
            </a:pPr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Confidential | </a:t>
            </a:r>
            <a:fld id="{3FD999D4-B456-9943-89B7-30D56181CE18}" type="slidenum">
              <a:rPr lang="en-US" sz="1000" smtClean="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pPr>
                <a:lnSpc>
                  <a:spcPct val="105000"/>
                </a:lnSpc>
                <a:spcBef>
                  <a:spcPts val="833"/>
                </a:spcBef>
              </a:pPr>
              <a:t>‹#›</a:t>
            </a:fld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396329-672C-114D-AC0A-6285EA3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5715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9727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- Grey Horizontal 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7A009B8-4E5F-2D48-BFFE-3F5E33AEDF8A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1651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905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lIns="0" tIns="0" rIns="0">
            <a:noAutofit/>
          </a:bodyPr>
          <a:lstStyle>
            <a:lvl1pPr>
              <a:defRPr sz="1333"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76450B-4C20-004B-B0A8-347099AEFA62}"/>
              </a:ext>
            </a:extLst>
          </p:cNvPr>
          <p:cNvSpPr txBox="1"/>
          <p:nvPr userDrawn="1"/>
        </p:nvSpPr>
        <p:spPr>
          <a:xfrm>
            <a:off x="10521980" y="6596470"/>
            <a:ext cx="3824817" cy="182542"/>
          </a:xfrm>
          <a:prstGeom prst="rect">
            <a:avLst/>
          </a:prstGeom>
        </p:spPr>
        <p:txBody>
          <a:bodyPr wrap="square" lIns="76200" tIns="38100" rIns="76200" bIns="38100" rtlCol="0">
            <a:noAutofit/>
          </a:bodyPr>
          <a:lstStyle/>
          <a:p>
            <a:pPr>
              <a:lnSpc>
                <a:spcPct val="105000"/>
              </a:lnSpc>
              <a:spcBef>
                <a:spcPts val="833"/>
              </a:spcBef>
            </a:pPr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Confidential | </a:t>
            </a:r>
            <a:fld id="{3FD999D4-B456-9943-89B7-30D56181CE18}" type="slidenum">
              <a:rPr lang="en-US" sz="1000" smtClean="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pPr>
                <a:lnSpc>
                  <a:spcPct val="105000"/>
                </a:lnSpc>
                <a:spcBef>
                  <a:spcPts val="833"/>
                </a:spcBef>
              </a:pPr>
              <a:t>‹#›</a:t>
            </a:fld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396329-672C-114D-AC0A-6285EA3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5715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9956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- Grey Horizontal 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7A009B8-4E5F-2D48-BFFE-3F5E33AEDF8A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1143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905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lIns="0" tIns="0" rIns="0">
            <a:noAutofit/>
          </a:bodyPr>
          <a:lstStyle>
            <a:lvl1pPr>
              <a:defRPr sz="1333"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76450B-4C20-004B-B0A8-347099AEFA62}"/>
              </a:ext>
            </a:extLst>
          </p:cNvPr>
          <p:cNvSpPr txBox="1"/>
          <p:nvPr userDrawn="1"/>
        </p:nvSpPr>
        <p:spPr>
          <a:xfrm>
            <a:off x="10521980" y="6675458"/>
            <a:ext cx="3824817" cy="182542"/>
          </a:xfrm>
          <a:prstGeom prst="rect">
            <a:avLst/>
          </a:prstGeom>
        </p:spPr>
        <p:txBody>
          <a:bodyPr wrap="square" lIns="76200" tIns="38100" rIns="76200" bIns="38100" rtlCol="0">
            <a:noAutofit/>
          </a:bodyPr>
          <a:lstStyle/>
          <a:p>
            <a:pPr>
              <a:lnSpc>
                <a:spcPct val="105000"/>
              </a:lnSpc>
              <a:spcBef>
                <a:spcPts val="833"/>
              </a:spcBef>
            </a:pPr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Confidential | </a:t>
            </a:r>
            <a:fld id="{3FD999D4-B456-9943-89B7-30D56181CE18}" type="slidenum">
              <a:rPr lang="en-US" sz="1000" smtClean="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pPr>
                <a:lnSpc>
                  <a:spcPct val="105000"/>
                </a:lnSpc>
                <a:spcBef>
                  <a:spcPts val="833"/>
                </a:spcBef>
              </a:pPr>
              <a:t>‹#›</a:t>
            </a:fld>
            <a:r>
              <a:rPr lang="en-US" sz="1000">
                <a:solidFill>
                  <a:schemeClr val="tx2">
                    <a:lumMod val="5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396329-672C-114D-AC0A-6285EA3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5715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9D0A248-4AE4-8C47-84D5-040FC99A3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FCF63C1-2DFC-3740-9C54-8A758DB90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8F8833A-BF1B-3D4E-BCE1-4E074B563D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F8B5898-4976-0F4A-9A11-12543BF02B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640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© 2023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2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1852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8954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32765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6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2720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35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40705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9296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9245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4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44068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8376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24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9861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03939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4230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54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40279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5171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0596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0664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7528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53751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5134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19762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66909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8449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6395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80027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55014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73292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245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0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96376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11048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7638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03316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1779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5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54009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34618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126501644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59455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28175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61047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69614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17447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1134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44.xml"/><Relationship Id="rId42" Type="http://schemas.openxmlformats.org/officeDocument/2006/relationships/slideLayout" Target="../slideLayouts/slideLayout52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42.xml"/><Relationship Id="rId37" Type="http://schemas.openxmlformats.org/officeDocument/2006/relationships/slideLayout" Target="../slideLayouts/slideLayout47.xml"/><Relationship Id="rId40" Type="http://schemas.openxmlformats.org/officeDocument/2006/relationships/slideLayout" Target="../slideLayouts/slideLayout50.xml"/><Relationship Id="rId45" Type="http://schemas.openxmlformats.org/officeDocument/2006/relationships/slideLayout" Target="../slideLayouts/slideLayout55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54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40.xml"/><Relationship Id="rId35" Type="http://schemas.openxmlformats.org/officeDocument/2006/relationships/slideLayout" Target="../slideLayouts/slideLayout45.xml"/><Relationship Id="rId43" Type="http://schemas.openxmlformats.org/officeDocument/2006/relationships/slideLayout" Target="../slideLayouts/slideLayout53.xml"/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43.xml"/><Relationship Id="rId38" Type="http://schemas.openxmlformats.org/officeDocument/2006/relationships/slideLayout" Target="../slideLayouts/slideLayout48.xml"/><Relationship Id="rId4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30.xml"/><Relationship Id="rId4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43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8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0" r:id="rId10"/>
  </p:sldLayoutIdLst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</p:titleStyle>
    <p:bodyStyle>
      <a:lvl1pPr marL="0" indent="0" algn="l" defTabSz="914363" rtl="0" eaLnBrk="1" latinLnBrk="0" hangingPunct="1">
        <a:lnSpc>
          <a:spcPct val="105000"/>
        </a:lnSpc>
        <a:spcBef>
          <a:spcPts val="1000"/>
        </a:spcBef>
        <a:buFontTx/>
        <a:buNone/>
        <a:tabLst/>
        <a:defRPr sz="1667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  <a:lvl2pPr marL="190492" indent="-190492" algn="l" defTabSz="914363" rtl="0" eaLnBrk="1" latinLnBrk="0" hangingPunct="1">
        <a:lnSpc>
          <a:spcPct val="105000"/>
        </a:lnSpc>
        <a:spcBef>
          <a:spcPts val="833"/>
        </a:spcBef>
        <a:buFont typeface="LucidaGrande" charset="0"/>
        <a:buChar char="-"/>
        <a:defRPr sz="1667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2pPr>
      <a:lvl3pPr marL="380985" indent="-190492" algn="l" defTabSz="914363" rtl="0" eaLnBrk="1" latinLnBrk="0" hangingPunct="1">
        <a:lnSpc>
          <a:spcPct val="105000"/>
        </a:lnSpc>
        <a:spcBef>
          <a:spcPts val="0"/>
        </a:spcBef>
        <a:buSzPct val="80000"/>
        <a:buFont typeface="Arial" panose="020B0604020202020204" pitchFamily="34" charset="0"/>
        <a:buChar char="•"/>
        <a:defRPr sz="1667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3pPr>
      <a:lvl4pPr marL="571477" indent="-190492" algn="l" defTabSz="914363" rtl="0" eaLnBrk="1" latinLnBrk="0" hangingPunct="1">
        <a:lnSpc>
          <a:spcPct val="105000"/>
        </a:lnSpc>
        <a:spcBef>
          <a:spcPts val="0"/>
        </a:spcBef>
        <a:buFont typeface=".AppleSystemUIFont" charset="-120"/>
        <a:buChar char="–"/>
        <a:defRPr sz="1667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4pPr>
      <a:lvl5pPr marL="761970" indent="-190492" algn="l" defTabSz="914363" rtl="0" eaLnBrk="1" latinLnBrk="0" hangingPunct="1">
        <a:lnSpc>
          <a:spcPct val="105000"/>
        </a:lnSpc>
        <a:spcBef>
          <a:spcPts val="0"/>
        </a:spcBef>
        <a:buSzPct val="80000"/>
        <a:buFont typeface="Arial" panose="020B0604020202020204" pitchFamily="34" charset="0"/>
        <a:buChar char="•"/>
        <a:defRPr sz="1667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5ACBF0"/>
          </p15:clr>
        </p15:guide>
        <p15:guide id="2" pos="4608">
          <p15:clr>
            <a:srgbClr val="5ACBF0"/>
          </p15:clr>
        </p15:guide>
        <p15:guide id="6" orient="horz" pos="1440">
          <p15:clr>
            <a:srgbClr val="5ACBF0"/>
          </p15:clr>
        </p15:guide>
        <p15:guide id="9" orient="horz" pos="288">
          <p15:clr>
            <a:srgbClr val="FDE53C"/>
          </p15:clr>
        </p15:guide>
        <p15:guide id="10" pos="288">
          <p15:clr>
            <a:srgbClr val="FDE53C"/>
          </p15:clr>
        </p15:guide>
        <p15:guide id="11" pos="8928">
          <p15:clr>
            <a:srgbClr val="FDE53C"/>
          </p15:clr>
        </p15:guide>
        <p15:guide id="12" orient="horz" pos="3744">
          <p15:clr>
            <a:srgbClr val="5ACBF0"/>
          </p15:clr>
        </p15:guide>
        <p15:guide id="13" orient="horz" pos="4896">
          <p15:clr>
            <a:srgbClr val="FDE53C"/>
          </p15:clr>
        </p15:guide>
        <p15:guide id="14" pos="2304">
          <p15:clr>
            <a:srgbClr val="5ACBF0"/>
          </p15:clr>
        </p15:guide>
        <p15:guide id="15" pos="6912">
          <p15:clr>
            <a:srgbClr val="5ACBF0"/>
          </p15:clr>
        </p15:guide>
        <p15:guide id="16" pos="7200">
          <p15:clr>
            <a:srgbClr val="5ACBF0"/>
          </p15:clr>
        </p15:guide>
        <p15:guide id="17" pos="6624">
          <p15:clr>
            <a:srgbClr val="5ACBF0"/>
          </p15:clr>
        </p15:guide>
        <p15:guide id="18" pos="4896">
          <p15:clr>
            <a:srgbClr val="5ACBF0"/>
          </p15:clr>
        </p15:guide>
        <p15:guide id="19" pos="4320">
          <p15:clr>
            <a:srgbClr val="5ACBF0"/>
          </p15:clr>
        </p15:guide>
        <p15:guide id="20" pos="2592">
          <p15:clr>
            <a:srgbClr val="5ACBF0"/>
          </p15:clr>
        </p15:guide>
        <p15:guide id="21" pos="2016">
          <p15:clr>
            <a:srgbClr val="5ACBF0"/>
          </p15:clr>
        </p15:guide>
        <p15:guide id="22" orient="horz" pos="432">
          <p15:clr>
            <a:srgbClr val="9FCC3B"/>
          </p15:clr>
        </p15:guide>
        <p15:guide id="23" orient="horz" pos="4752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702888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703" r:id="rId32"/>
    <p:sldLayoutId id="2147483704" r:id="rId33"/>
    <p:sldLayoutId id="2147483705" r:id="rId34"/>
    <p:sldLayoutId id="2147483706" r:id="rId35"/>
    <p:sldLayoutId id="2147483707" r:id="rId36"/>
    <p:sldLayoutId id="2147483708" r:id="rId37"/>
    <p:sldLayoutId id="2147483709" r:id="rId38"/>
    <p:sldLayoutId id="2147483710" r:id="rId39"/>
    <p:sldLayoutId id="2147483711" r:id="rId40"/>
    <p:sldLayoutId id="2147483712" r:id="rId41"/>
    <p:sldLayoutId id="2147483713" r:id="rId42"/>
    <p:sldLayoutId id="2147483714" r:id="rId43"/>
    <p:sldLayoutId id="2147483715" r:id="rId44"/>
    <p:sldLayoutId id="2147483716" r:id="rId45"/>
    <p:sldLayoutId id="2147483717" r:id="rId46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openai.com/api/docs/pricing" TargetMode="External"/><Relationship Id="rId2" Type="http://schemas.openxmlformats.org/officeDocument/2006/relationships/hyperlink" Target="https://platform.claude.com/docs/en/about-claude/pricing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latform.claude.com/docs/en/about-claude/pricing#prompt-cachin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tio.com/products/kubecost/" TargetMode="External"/><Relationship Id="rId2" Type="http://schemas.openxmlformats.org/officeDocument/2006/relationships/hyperlink" Target="https://www.opencost.io/docs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atalog.redhat.com/en/software/container-stacks/detail/5f16e7bcce85fb9e399f3a25#overview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lm-d/llm-d/pull/1646" TargetMode="External"/><Relationship Id="rId2" Type="http://schemas.openxmlformats.org/officeDocument/2006/relationships/hyperlink" Target="https://github.com/opencost/opencost/pull/3782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manadler/opencost/blob/initial-inference/docs/inference-cost-tracking.md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claude.com/docs/en/about-claude/pric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latform.claude.com/docs/en/about-claude/pricing#prompt-caching" TargetMode="External"/><Relationship Id="rId4" Type="http://schemas.openxmlformats.org/officeDocument/2006/relationships/hyperlink" Target="https://developers.openai.com/api/docs/pricing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ost.io/docs/integrations/metrics#required-metrics-from-external-sources" TargetMode="External"/><Relationship Id="rId2" Type="http://schemas.openxmlformats.org/officeDocument/2006/relationships/hyperlink" Target="https://opencost.io/docs/integrations/metrics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opencost.io/docs/integrations/metrics#generated-cost-metric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openai.com/api/docs/pricing" TargetMode="External"/><Relationship Id="rId2" Type="http://schemas.openxmlformats.org/officeDocument/2006/relationships/hyperlink" Target="https://platform.claude.com/docs/en/about-claude/pricing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latform.claude.com/docs/en/about-claude/pricing#prompt-cachin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opencost.io/docs/specification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laser&#10;&#10;Description automatically generated">
            <a:extLst>
              <a:ext uri="{FF2B5EF4-FFF2-40B4-BE49-F238E27FC236}">
                <a16:creationId xmlns:a16="http://schemas.microsoft.com/office/drawing/2014/main" id="{B0D71C02-2322-DF42-9541-176A8093E5C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2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5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5872" y="131176"/>
            <a:ext cx="9080500" cy="69138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8B9F-3EF2-734E-A0C3-C05E53E36A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83628" y="5247190"/>
            <a:ext cx="4421455" cy="689064"/>
          </a:xfrm>
        </p:spPr>
        <p:txBody>
          <a:bodyPr/>
          <a:lstStyle/>
          <a:p>
            <a:pPr>
              <a:lnSpc>
                <a:spcPts val="1550"/>
              </a:lnSpc>
            </a:pPr>
            <a:r>
              <a:rPr lang="en-US" sz="1500" b="1" dirty="0"/>
              <a:t>June 2026</a:t>
            </a:r>
            <a:endParaRPr lang="en-US" sz="15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958CB-EE8A-AA47-9508-BCD2D408C5F1}"/>
              </a:ext>
            </a:extLst>
          </p:cNvPr>
          <p:cNvSpPr txBox="1"/>
          <p:nvPr/>
        </p:nvSpPr>
        <p:spPr>
          <a:xfrm>
            <a:off x="4592877" y="6482219"/>
            <a:ext cx="0" cy="0"/>
          </a:xfrm>
          <a:prstGeom prst="rect">
            <a:avLst/>
          </a:prstGeom>
        </p:spPr>
        <p:txBody>
          <a:bodyPr vert="horz" wrap="none" lIns="0" tIns="190500" rIns="0" bIns="0" rtlCol="0" anchor="t">
            <a:noAutofit/>
          </a:bodyPr>
          <a:lstStyle/>
          <a:p>
            <a:pPr defTabSz="914363"/>
            <a:endParaRPr lang="en-US" sz="1000" b="1">
              <a:solidFill>
                <a:srgbClr val="0530AD"/>
              </a:solidFill>
              <a:latin typeface="Arial" panose="020B06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2D04A-7488-4C44-9E47-EB083987D9E9}"/>
              </a:ext>
            </a:extLst>
          </p:cNvPr>
          <p:cNvSpPr txBox="1"/>
          <p:nvPr/>
        </p:nvSpPr>
        <p:spPr>
          <a:xfrm>
            <a:off x="4083628" y="2045237"/>
            <a:ext cx="7907482" cy="20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defTabSz="914363">
              <a:spcBef>
                <a:spcPts val="1000"/>
              </a:spcBef>
            </a:pPr>
            <a:r>
              <a:rPr lang="en-US" sz="2800" dirty="0">
                <a:solidFill>
                  <a:srgbClr val="0530AD"/>
                </a:solidFill>
                <a:latin typeface="Arial" panose="020B0604020202020204"/>
              </a:rPr>
              <a:t>Cost Modelling for </a:t>
            </a:r>
            <a:r>
              <a:rPr lang="en-US" sz="2800" dirty="0" err="1">
                <a:solidFill>
                  <a:srgbClr val="0530AD"/>
                </a:solidFill>
                <a:latin typeface="Arial" panose="020B0604020202020204"/>
              </a:rPr>
              <a:t>llm</a:t>
            </a:r>
            <a:r>
              <a:rPr lang="en-US" sz="2800" dirty="0">
                <a:solidFill>
                  <a:srgbClr val="0530AD"/>
                </a:solidFill>
                <a:latin typeface="Arial" panose="020B0604020202020204"/>
              </a:rPr>
              <a:t>-d</a:t>
            </a:r>
          </a:p>
          <a:p>
            <a:pPr defTabSz="914363">
              <a:spcBef>
                <a:spcPts val="1000"/>
              </a:spcBef>
            </a:pPr>
            <a:endParaRPr lang="en-US" dirty="0">
              <a:solidFill>
                <a:srgbClr val="0530AD"/>
              </a:solidFill>
              <a:latin typeface="Arial" panose="020B0604020202020204"/>
            </a:endParaRPr>
          </a:p>
          <a:p>
            <a:pPr defTabSz="914363">
              <a:spcBef>
                <a:spcPts val="1000"/>
              </a:spcBef>
            </a:pPr>
            <a:r>
              <a:rPr lang="en-US" dirty="0">
                <a:solidFill>
                  <a:srgbClr val="0530AD"/>
                </a:solidFill>
                <a:latin typeface="Arial" panose="020B0604020202020204"/>
              </a:rPr>
              <a:t>Sima Nadler</a:t>
            </a:r>
            <a:endParaRPr lang="en-US" sz="2333" dirty="0">
              <a:solidFill>
                <a:srgbClr val="0530AD"/>
              </a:solidFill>
              <a:latin typeface="Arial" panose="020B0604020202020204"/>
            </a:endParaRPr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4DE013E7-7765-83F5-263E-6D8EF51221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7" y="2450914"/>
            <a:ext cx="2937126" cy="1956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BD190E-25FE-C8AA-65AB-778291420A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525" y="4659055"/>
            <a:ext cx="2810514" cy="2086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D4E061-B7D3-EB66-D06C-0608D93D1B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037" y="225211"/>
            <a:ext cx="2901956" cy="182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47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693A01-9207-ECA6-0084-19FC39E742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A72694-3710-7613-6C03-7F95B4B2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10272-86CE-48D2-E8C1-4AA14C1B5D53}"/>
              </a:ext>
            </a:extLst>
          </p:cNvPr>
          <p:cNvSpPr txBox="1"/>
          <p:nvPr/>
        </p:nvSpPr>
        <p:spPr>
          <a:xfrm>
            <a:off x="5473700" y="2632842"/>
            <a:ext cx="914400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IL" sz="28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SaaS based AI models have mature pricing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</a:pPr>
            <a:endParaRPr lang="en-IL" sz="2800" b="1" dirty="0">
              <a:latin typeface="IBM Plex Sans" charset="0"/>
              <a:ea typeface="IBM Plex Sans" charset="0"/>
              <a:cs typeface="IBM Plex Sans" charset="0"/>
            </a:endParaRPr>
          </a:p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IL" sz="2800" b="1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Self-hosted models have no </a:t>
            </a:r>
            <a:r>
              <a:rPr lang="en-IL" sz="2800" b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costing capabilities</a:t>
            </a:r>
            <a:endParaRPr lang="en-IL" sz="2800" b="1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90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245A-DBC0-78A9-F588-336E0022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BCAB90-E69B-9B05-F5DA-0C97D0799C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B6697-A8C2-A973-5E60-4960D550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SaaS Model Prices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812B9-AF5F-D031-59D8-CDD24BB53761}"/>
              </a:ext>
            </a:extLst>
          </p:cNvPr>
          <p:cNvSpPr txBox="1"/>
          <p:nvPr/>
        </p:nvSpPr>
        <p:spPr>
          <a:xfrm>
            <a:off x="381000" y="1722120"/>
            <a:ext cx="4421125" cy="3979718"/>
          </a:xfrm>
          <a:prstGeom prst="rect">
            <a:avLst/>
          </a:prstGeom>
          <a:ln w="15875">
            <a:solidFill>
              <a:schemeClr val="accent6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Model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Base input tokens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Output Tokens</a:t>
            </a:r>
            <a:endParaRPr lang="he-IL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Context Size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Modality – text, image, audio, video</a:t>
            </a:r>
          </a:p>
          <a:p>
            <a:pPr fontAlgn="ctr"/>
            <a:endParaRPr lang="en-US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b="1" dirty="0"/>
              <a:t>5 minute / 1 hour Cache Writes*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b="1" dirty="0"/>
              <a:t>Cache Hits and Refreshes*</a:t>
            </a:r>
            <a:endParaRPr lang="he-IL" b="1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Data residency - Single region, multi-region, global endpoints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Fast mode ?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Batch processing - 50% discount over real-time</a:t>
            </a:r>
          </a:p>
          <a:p>
            <a:pPr font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6DCCD-5B88-AB3B-BA25-88B6459EE0FA}"/>
              </a:ext>
            </a:extLst>
          </p:cNvPr>
          <p:cNvSpPr txBox="1"/>
          <p:nvPr/>
        </p:nvSpPr>
        <p:spPr>
          <a:xfrm>
            <a:off x="5343525" y="1799467"/>
            <a:ext cx="3810000" cy="39797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Tool Use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Client side tools - same as any other API request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Server side tools - additional usage-based pricing (</a:t>
            </a:r>
            <a:r>
              <a:rPr lang="en-US" sz="1400" dirty="0" err="1"/>
              <a:t>eg</a:t>
            </a:r>
            <a:r>
              <a:rPr lang="en-US" sz="1400" dirty="0"/>
              <a:t> web search charge)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The additional tokens from tool use come from: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The tools parameter in API requests (tool names, descriptions, and schemas)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tool_use</a:t>
            </a:r>
            <a:r>
              <a:rPr lang="en-US" sz="1400" dirty="0"/>
              <a:t> content blocks in API requests and responses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tool_result</a:t>
            </a:r>
            <a:r>
              <a:rPr lang="en-US" sz="1400" dirty="0"/>
              <a:t> content blocks in API requests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Managed Agents?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Session runtime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446BB-7AA7-E2EE-43A5-5E07E74DED84}"/>
              </a:ext>
            </a:extLst>
          </p:cNvPr>
          <p:cNvSpPr txBox="1"/>
          <p:nvPr/>
        </p:nvSpPr>
        <p:spPr>
          <a:xfrm>
            <a:off x="9694926" y="3125205"/>
            <a:ext cx="2592327" cy="15610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Volume discounts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Enterprise pricing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Custom rate limits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Volume discounts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Dedicated support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Custom terms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A9C09-BF15-657D-68C2-08BDD8E287CA}"/>
              </a:ext>
            </a:extLst>
          </p:cNvPr>
          <p:cNvSpPr txBox="1"/>
          <p:nvPr/>
        </p:nvSpPr>
        <p:spPr>
          <a:xfrm>
            <a:off x="4158624" y="5943600"/>
            <a:ext cx="914400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US" dirty="0">
                <a:hlinkClick r:id="rId2"/>
              </a:rPr>
              <a:t>Pricing: Claude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OpenAI</a:t>
            </a:r>
            <a:endParaRPr lang="en-US" dirty="0"/>
          </a:p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US" dirty="0">
                <a:hlinkClick r:id="rId4"/>
              </a:rPr>
              <a:t>*Claude Prompt Caching </a:t>
            </a:r>
            <a:endParaRPr lang="en-US" dirty="0"/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33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2FBD53-8A01-5709-6D1F-6163E35DDA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015AA6-2716-92B4-A890-792C2B9CB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</a:t>
            </a:r>
            <a:r>
              <a:rPr lang="en-IL"/>
              <a:t>lm-d Cost Use Cases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EC1857-E4AA-A329-AD92-A454D3948272}"/>
              </a:ext>
            </a:extLst>
          </p:cNvPr>
          <p:cNvSpPr txBox="1"/>
          <p:nvPr/>
        </p:nvSpPr>
        <p:spPr>
          <a:xfrm>
            <a:off x="444500" y="1264920"/>
            <a:ext cx="11366500" cy="516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b="1" dirty="0"/>
              <a:t>Business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b="1" dirty="0"/>
              <a:t>Enterprise IT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dirty="0"/>
              <a:t>Build vs Buy 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r>
              <a:rPr lang="en-US" dirty="0"/>
              <a:t>Compare cost of serving models independently vs using 3rd party hosted models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dirty="0"/>
              <a:t>Enable individual and group level tracking of AI budgets – in $$ rather than just tokens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dirty="0"/>
              <a:t>Monitor AI inference costs – overall, per model, </a:t>
            </a:r>
            <a:r>
              <a:rPr lang="en-US" i="1" dirty="0"/>
              <a:t>per workload, per client, per region …</a:t>
            </a:r>
          </a:p>
          <a:p>
            <a:pPr lvl="2" fontAlgn="ctr"/>
            <a:endParaRPr lang="en-US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b="1" dirty="0" err="1"/>
              <a:t>Llm</a:t>
            </a:r>
            <a:r>
              <a:rPr lang="en-US" b="1" dirty="0"/>
              <a:t>-d “sales”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dirty="0"/>
              <a:t>ROI for </a:t>
            </a:r>
            <a:r>
              <a:rPr lang="en-US" dirty="0" err="1"/>
              <a:t>llm</a:t>
            </a:r>
            <a:r>
              <a:rPr lang="en-US" dirty="0"/>
              <a:t>-d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dirty="0"/>
              <a:t>Build vs Buy Decisions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r>
              <a:rPr lang="en-US" dirty="0"/>
              <a:t>And hybrid approaches</a:t>
            </a:r>
          </a:p>
          <a:p>
            <a:pPr lvl="2" fontAlgn="ctr"/>
            <a:endParaRPr lang="en-US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b="1" dirty="0" err="1"/>
              <a:t>Llm</a:t>
            </a:r>
            <a:r>
              <a:rPr lang="en-US" b="1" dirty="0"/>
              <a:t>-d Optimizations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dirty="0"/>
              <a:t>Cost based model routing logic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dirty="0"/>
              <a:t>Auto scaler can use real costs 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dirty="0"/>
              <a:t>instead of hard-coded costs currently provided via config files for each variant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b="1" dirty="0"/>
              <a:t>Clients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dirty="0"/>
              <a:t>Choose best model for intended purposes – based on </a:t>
            </a:r>
            <a:r>
              <a:rPr lang="en-US" b="1" dirty="0"/>
              <a:t>cost</a:t>
            </a:r>
            <a:r>
              <a:rPr lang="en-US" dirty="0"/>
              <a:t>/performance </a:t>
            </a:r>
          </a:p>
          <a:p>
            <a:pPr fontAlgn="ctr"/>
            <a:endParaRPr lang="en-US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54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2F2BA1-DB9D-7197-A088-E754293D1D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555AD4-BB5F-5EEB-9171-13081BD7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Cost vs 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ABB72-F8EB-360A-4CFD-E95F37CB1C20}"/>
              </a:ext>
            </a:extLst>
          </p:cNvPr>
          <p:cNvSpPr txBox="1"/>
          <p:nvPr/>
        </p:nvSpPr>
        <p:spPr>
          <a:xfrm>
            <a:off x="237393" y="1264920"/>
            <a:ext cx="1172893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</a:rPr>
              <a:t>Cost</a:t>
            </a:r>
            <a:r>
              <a:rPr lang="en-US" dirty="0">
                <a:solidFill>
                  <a:srgbClr val="000000"/>
                </a:solidFill>
                <a:effectLst/>
              </a:rPr>
              <a:t> refers to what the provider (e.g., Anthropic, OpenAI, </a:t>
            </a:r>
            <a:r>
              <a:rPr lang="en-US" b="1" dirty="0">
                <a:solidFill>
                  <a:srgbClr val="000000"/>
                </a:solidFill>
              </a:rPr>
              <a:t>enterprise IT</a:t>
            </a:r>
            <a:r>
              <a:rPr lang="en-US" dirty="0">
                <a:solidFill>
                  <a:srgbClr val="000000"/>
                </a:solidFill>
                <a:effectLst/>
              </a:rPr>
              <a:t>) spends to run inference </a:t>
            </a:r>
            <a:endParaRPr lang="en-US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</a:rPr>
              <a:t>	compute (GPUs/TPUs)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>
                <a:solidFill>
                  <a:srgbClr val="000000"/>
                </a:solidFill>
                <a:effectLst/>
              </a:rPr>
              <a:t>electricity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>
                <a:solidFill>
                  <a:srgbClr val="000000"/>
                </a:solidFill>
                <a:effectLst/>
              </a:rPr>
              <a:t>cooling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>
                <a:solidFill>
                  <a:srgbClr val="000000"/>
                </a:solidFill>
                <a:effectLst/>
              </a:rPr>
              <a:t>memory bandwidth</a:t>
            </a:r>
            <a:endParaRPr lang="en-US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</a:rPr>
              <a:t>	infrastructure overhead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	personnel …</a:t>
            </a:r>
            <a:endParaRPr lang="en-US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 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</a:rPr>
              <a:t>Price</a:t>
            </a:r>
            <a:r>
              <a:rPr lang="en-US" dirty="0">
                <a:solidFill>
                  <a:srgbClr val="000000"/>
                </a:solidFill>
                <a:effectLst/>
              </a:rPr>
              <a:t> is what the provider charges customers </a:t>
            </a:r>
            <a:endParaRPr lang="en-US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</a:rPr>
              <a:t>rate per million input/output 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Cache hit discounts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00"/>
                </a:solidFill>
                <a:effectLst/>
              </a:rPr>
              <a:t>See this for more details</a:t>
            </a:r>
          </a:p>
          <a:p>
            <a:pPr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  <a:effectLst/>
              </a:rPr>
              <a:t>Cost ≠ Price</a:t>
            </a:r>
            <a:r>
              <a:rPr lang="en-US" dirty="0">
                <a:solidFill>
                  <a:srgbClr val="000000"/>
                </a:solidFill>
                <a:effectLst/>
              </a:rPr>
              <a:t>: providers may price below cost to gain market share, or well above cost on premium models                                                   </a:t>
            </a:r>
          </a:p>
          <a:p>
            <a:pPr algn="ctr"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</a:rPr>
              <a:t>User’s cost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is the provider's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</a:rPr>
              <a:t>price</a:t>
            </a:r>
            <a:endParaRPr lang="en-US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4692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831013-6D9F-DD4A-DB5E-E84C31E83C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921DD-1575-18F0-376C-BD6CBC4E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Existing </a:t>
            </a:r>
            <a:r>
              <a:rPr lang="en-IL">
                <a:solidFill>
                  <a:srgbClr val="FF0000"/>
                </a:solidFill>
              </a:rPr>
              <a:t>(Non-AI) </a:t>
            </a:r>
            <a:r>
              <a:rPr lang="en-IL"/>
              <a:t>Cost Tools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7DB28-FECD-1006-A1B8-5DBD09CA9C52}"/>
              </a:ext>
            </a:extLst>
          </p:cNvPr>
          <p:cNvSpPr txBox="1"/>
          <p:nvPr/>
        </p:nvSpPr>
        <p:spPr>
          <a:xfrm>
            <a:off x="444500" y="1264920"/>
            <a:ext cx="11366500" cy="516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  <a:hlinkClick r:id="rId2"/>
              </a:rPr>
              <a:t>OpenCost</a:t>
            </a:r>
            <a:r>
              <a:rPr lang="en-US" dirty="0"/>
              <a:t>( Open Source – CNCF) - Kubernetes and cloud cost monitoring and allocation</a:t>
            </a:r>
          </a:p>
          <a:p>
            <a:r>
              <a:rPr lang="en-US" dirty="0"/>
              <a:t>- Real-time cost allocation by namespace, pod, label</a:t>
            </a:r>
          </a:p>
          <a:p>
            <a:r>
              <a:rPr lang="en-US" dirty="0"/>
              <a:t>- Multi-cloud support (AWS, GCP, Azure, on-prem)</a:t>
            </a:r>
          </a:p>
          <a:p>
            <a:r>
              <a:rPr lang="en-US" dirty="0"/>
              <a:t>- Prometheus integration for metrics</a:t>
            </a:r>
          </a:p>
          <a:p>
            <a:r>
              <a:rPr lang="en-US" dirty="0"/>
              <a:t>- Cost allocation based on actual resource usage</a:t>
            </a:r>
          </a:p>
          <a:p>
            <a:r>
              <a:rPr lang="en-US" dirty="0"/>
              <a:t>- Idle resource cost tracking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Consumes existing Prometheus metrics and Kubernetes metadata to derive infrastructure cost data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b="1" dirty="0">
                <a:hlinkClick r:id="rId3"/>
              </a:rPr>
              <a:t>KubeCost</a:t>
            </a:r>
            <a:r>
              <a:rPr lang="en-US" b="1" dirty="0"/>
              <a:t> </a:t>
            </a:r>
            <a:r>
              <a:rPr lang="en-US" dirty="0"/>
              <a:t>(Commercial - </a:t>
            </a:r>
            <a:r>
              <a:rPr lang="en-US" dirty="0">
                <a:highlight>
                  <a:srgbClr val="FFFF00"/>
                </a:highlight>
              </a:rPr>
              <a:t>IBM Apptio) </a:t>
            </a:r>
            <a:r>
              <a:rPr lang="en-US" dirty="0"/>
              <a:t>– </a:t>
            </a:r>
            <a:r>
              <a:rPr lang="en-US" dirty="0">
                <a:highlight>
                  <a:srgbClr val="FFFF00"/>
                </a:highlight>
              </a:rPr>
              <a:t>Based on </a:t>
            </a:r>
            <a:r>
              <a:rPr lang="en-US" dirty="0" err="1">
                <a:highlight>
                  <a:srgbClr val="FFFF00"/>
                </a:highlight>
              </a:rPr>
              <a:t>OpenCost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n-US" dirty="0"/>
              <a:t>- Real-time cost monitoring</a:t>
            </a:r>
          </a:p>
          <a:p>
            <a:r>
              <a:rPr lang="en-US" dirty="0"/>
              <a:t>- Cost allocation and </a:t>
            </a:r>
            <a:r>
              <a:rPr lang="en-US" dirty="0" err="1"/>
              <a:t>showback</a:t>
            </a:r>
            <a:r>
              <a:rPr lang="en-US" dirty="0"/>
              <a:t>/chargeback</a:t>
            </a:r>
          </a:p>
          <a:p>
            <a:r>
              <a:rPr lang="en-US" dirty="0"/>
              <a:t>- Savings recommendations</a:t>
            </a:r>
          </a:p>
          <a:p>
            <a:r>
              <a:rPr lang="en-US" dirty="0"/>
              <a:t>- Multi-cluster support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b="1" dirty="0"/>
              <a:t>Cloud Provider Native Tools </a:t>
            </a:r>
            <a:r>
              <a:rPr lang="en-US" dirty="0"/>
              <a:t>(Commercial – Platform Specific)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dirty="0"/>
              <a:t>RedHat: </a:t>
            </a:r>
            <a:r>
              <a:rPr lang="en-US" dirty="0">
                <a:hlinkClick r:id="rId4"/>
              </a:rPr>
              <a:t>OpenShift Cost Management Metrics Service </a:t>
            </a:r>
            <a:r>
              <a:rPr lang="en-US" dirty="0"/>
              <a:t>(paid)</a:t>
            </a:r>
          </a:p>
          <a:p>
            <a:pPr marL="285750" indent="-285750">
              <a:buFontTx/>
              <a:buChar char="-"/>
            </a:pPr>
            <a:r>
              <a:rPr lang="en-US" dirty="0"/>
              <a:t>GCP: Cloud Billing API, Cost Management</a:t>
            </a:r>
          </a:p>
          <a:p>
            <a:r>
              <a:rPr lang="en-US" dirty="0"/>
              <a:t>- AWS: Cost Explorer, Cost and Usage Reports</a:t>
            </a:r>
          </a:p>
          <a:p>
            <a:r>
              <a:rPr lang="en-US" dirty="0"/>
              <a:t>- Azure: Cost Management + Billing</a:t>
            </a:r>
          </a:p>
          <a:p>
            <a:endParaRPr lang="en-US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40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EE8EBA-AB56-AA2F-F2DD-B02B2F2E73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A91FE1-DC91-71EC-11D8-855DCA92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OpenCost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AAC17-535B-DD1A-0840-E8BB853EE934}"/>
              </a:ext>
            </a:extLst>
          </p:cNvPr>
          <p:cNvSpPr txBox="1"/>
          <p:nvPr/>
        </p:nvSpPr>
        <p:spPr>
          <a:xfrm>
            <a:off x="619736" y="2345116"/>
            <a:ext cx="4680797" cy="3172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 b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Infrastructure (k8s) Level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Resource allocations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Node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Network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Storage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Costs associate with labels </a:t>
            </a:r>
            <a:r>
              <a:rPr lang="en-US" sz="2000"/>
              <a:t>– </a:t>
            </a:r>
            <a:r>
              <a:rPr lang="en-US" sz="2000" b="1"/>
              <a:t>namespace: node, service, deployment, stateful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Operation metrics </a:t>
            </a:r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0CF2CF-BFA2-8DD9-5A32-8CA0CAE03CEC}"/>
              </a:ext>
            </a:extLst>
          </p:cNvPr>
          <p:cNvCxnSpPr>
            <a:cxnSpLocks/>
          </p:cNvCxnSpPr>
          <p:nvPr/>
        </p:nvCxnSpPr>
        <p:spPr>
          <a:xfrm>
            <a:off x="5087445" y="3852698"/>
            <a:ext cx="1686909" cy="0"/>
          </a:xfrm>
          <a:prstGeom prst="line">
            <a:avLst/>
          </a:prstGeom>
          <a:ln w="2317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EDC372-4B75-D224-68AE-555E250D5064}"/>
              </a:ext>
            </a:extLst>
          </p:cNvPr>
          <p:cNvSpPr txBox="1"/>
          <p:nvPr/>
        </p:nvSpPr>
        <p:spPr>
          <a:xfrm>
            <a:off x="7171119" y="2881146"/>
            <a:ext cx="4311433" cy="21007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 b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Business Level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Workload Costs (ex: cost of running a website)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Team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Product Costs</a:t>
            </a:r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174421-FEF6-6C62-F672-42F2D3A27A09}"/>
              </a:ext>
            </a:extLst>
          </p:cNvPr>
          <p:cNvSpPr txBox="1"/>
          <p:nvPr/>
        </p:nvSpPr>
        <p:spPr>
          <a:xfrm>
            <a:off x="5300533" y="4213493"/>
            <a:ext cx="849955" cy="4408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US" sz="12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Aggregation queries</a:t>
            </a:r>
            <a:endParaRPr lang="en-IL" sz="12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33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A48D57-099D-5403-A4F0-2665FBBE67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90575E-790B-A63E-2EF9-0FF16A602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98" y="312962"/>
            <a:ext cx="11430000" cy="571500"/>
          </a:xfrm>
        </p:spPr>
        <p:txBody>
          <a:bodyPr/>
          <a:lstStyle/>
          <a:p>
            <a:r>
              <a:rPr lang="en-IL"/>
              <a:t>NVIDIA DCGM </a:t>
            </a:r>
            <a:br>
              <a:rPr lang="en-IL"/>
            </a:br>
            <a:r>
              <a:rPr lang="en-IL" i="1"/>
              <a:t>included out of the box with OpenCost</a:t>
            </a:r>
            <a:r>
              <a:rPr lang="en-IL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F7DA5-484C-1D63-9002-95C96E603F70}"/>
              </a:ext>
            </a:extLst>
          </p:cNvPr>
          <p:cNvSpPr txBox="1"/>
          <p:nvPr/>
        </p:nvSpPr>
        <p:spPr>
          <a:xfrm>
            <a:off x="2546350" y="3124200"/>
            <a:ext cx="1676400" cy="73025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IL" sz="20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NVIDIA DCGM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IL" sz="1100">
                <a:latin typeface="IBM Plex Sans" charset="0"/>
                <a:ea typeface="IBM Plex Sans" charset="0"/>
                <a:cs typeface="IBM Plex Sans" charset="0"/>
              </a:rPr>
              <a:t>Data Center GPU Manager</a:t>
            </a:r>
            <a:endParaRPr lang="en-IL" sz="11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DC207-348F-C55C-9CAB-D1DB208AAA46}"/>
              </a:ext>
            </a:extLst>
          </p:cNvPr>
          <p:cNvSpPr txBox="1"/>
          <p:nvPr/>
        </p:nvSpPr>
        <p:spPr>
          <a:xfrm>
            <a:off x="4997450" y="3124200"/>
            <a:ext cx="1676400" cy="73025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IL" sz="2000">
                <a:latin typeface="IBM Plex Sans" charset="0"/>
                <a:ea typeface="IBM Plex Sans" charset="0"/>
                <a:cs typeface="IBM Plex Sans" charset="0"/>
              </a:rPr>
              <a:t>OpenCost 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IL" sz="1400">
                <a:latin typeface="IBM Plex Sans" charset="0"/>
                <a:ea typeface="IBM Plex Sans" charset="0"/>
                <a:cs typeface="IBM Plex Sans" charset="0"/>
              </a:rPr>
              <a:t>or KubeCost</a:t>
            </a:r>
            <a:endParaRPr lang="en-IL" sz="105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1DF9A-2838-1EAB-A9E5-79D63A6F5162}"/>
              </a:ext>
            </a:extLst>
          </p:cNvPr>
          <p:cNvSpPr txBox="1"/>
          <p:nvPr/>
        </p:nvSpPr>
        <p:spPr>
          <a:xfrm>
            <a:off x="4483100" y="3263900"/>
            <a:ext cx="285750" cy="48895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3200">
                <a:solidFill>
                  <a:srgbClr val="0070C0"/>
                </a:solidFill>
                <a:latin typeface="IBM Plex Sans" charset="0"/>
                <a:ea typeface="IBM Plex Sans" charset="0"/>
                <a:cs typeface="IBM Plex Sans" charset="0"/>
              </a:rPr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4D1EE-5EEF-0F50-E202-7E3A7B4C220B}"/>
              </a:ext>
            </a:extLst>
          </p:cNvPr>
          <p:cNvSpPr txBox="1"/>
          <p:nvPr/>
        </p:nvSpPr>
        <p:spPr>
          <a:xfrm>
            <a:off x="7061200" y="3244850"/>
            <a:ext cx="285750" cy="48895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3200">
                <a:solidFill>
                  <a:srgbClr val="0070C0"/>
                </a:solidFill>
                <a:latin typeface="IBM Plex Sans" charset="0"/>
                <a:ea typeface="IBM Plex Sans" charset="0"/>
                <a:cs typeface="IBM Plex Sans" charset="0"/>
              </a:rPr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6453EE-AE57-F73F-0BDE-BD12334E0015}"/>
              </a:ext>
            </a:extLst>
          </p:cNvPr>
          <p:cNvSpPr txBox="1"/>
          <p:nvPr/>
        </p:nvSpPr>
        <p:spPr>
          <a:xfrm>
            <a:off x="7448550" y="3124200"/>
            <a:ext cx="2667602" cy="730250"/>
          </a:xfrm>
          <a:prstGeom prst="rect">
            <a:avLst/>
          </a:prstGeom>
          <a:ln w="25400"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IL" sz="2000">
                <a:latin typeface="IBM Plex Sans" charset="0"/>
                <a:ea typeface="IBM Plex Sans" charset="0"/>
                <a:cs typeface="IBM Plex Sans" charset="0"/>
              </a:rPr>
              <a:t>Actual GPU Use vs 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IL" sz="2000">
                <a:latin typeface="IBM Plex Sans" charset="0"/>
                <a:ea typeface="IBM Plex Sans" charset="0"/>
                <a:cs typeface="IBM Plex Sans" charset="0"/>
              </a:rPr>
              <a:t>GPU Allocation</a:t>
            </a:r>
            <a:endParaRPr lang="en-IL" sz="11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D1F1E7-614D-5198-BB86-EDC24565E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202" y="2324101"/>
            <a:ext cx="1481069" cy="7302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237B07-033E-CA4D-9981-539872E22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300" y="2244818"/>
            <a:ext cx="851119" cy="7302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33CB44-5B13-D7FB-659B-22BF279C4E95}"/>
              </a:ext>
            </a:extLst>
          </p:cNvPr>
          <p:cNvSpPr txBox="1"/>
          <p:nvPr/>
        </p:nvSpPr>
        <p:spPr>
          <a:xfrm>
            <a:off x="4834355" y="4921250"/>
            <a:ext cx="2226845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Identify GPU Waste in $$</a:t>
            </a:r>
          </a:p>
        </p:txBody>
      </p:sp>
    </p:spTree>
    <p:extLst>
      <p:ext uri="{BB962C8B-B14F-4D97-AF65-F5344CB8AC3E}">
        <p14:creationId xmlns:p14="http://schemas.microsoft.com/office/powerpoint/2010/main" val="221856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8715E-3413-D901-70C7-75E9D1FC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61A239-9292-E718-140C-E2AC823D80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85E0B3-2906-0F29-8AFC-878DD6AF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Inference Cost Monitoring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AE9E0-916E-61E2-EE66-88705A4A9BB9}"/>
              </a:ext>
            </a:extLst>
          </p:cNvPr>
          <p:cNvSpPr txBox="1"/>
          <p:nvPr/>
        </p:nvSpPr>
        <p:spPr>
          <a:xfrm>
            <a:off x="3718563" y="3690184"/>
            <a:ext cx="945054" cy="5714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 b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Metrics</a:t>
            </a:r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F41B16-031F-267F-9A40-3B08D3139AA9}"/>
              </a:ext>
            </a:extLst>
          </p:cNvPr>
          <p:cNvCxnSpPr>
            <a:cxnSpLocks/>
          </p:cNvCxnSpPr>
          <p:nvPr/>
        </p:nvCxnSpPr>
        <p:spPr>
          <a:xfrm>
            <a:off x="5087445" y="3852698"/>
            <a:ext cx="1686909" cy="0"/>
          </a:xfrm>
          <a:prstGeom prst="line">
            <a:avLst/>
          </a:prstGeom>
          <a:ln w="2317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89CC1A-A5E6-3AF8-E7F6-ABD895415104}"/>
              </a:ext>
            </a:extLst>
          </p:cNvPr>
          <p:cNvSpPr txBox="1"/>
          <p:nvPr/>
        </p:nvSpPr>
        <p:spPr>
          <a:xfrm>
            <a:off x="7204402" y="2148312"/>
            <a:ext cx="4635062" cy="21007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 b="1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Business Level Metrics </a:t>
            </a:r>
            <a:r>
              <a:rPr lang="en-IL" sz="20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– examples:</a:t>
            </a:r>
            <a:endParaRPr lang="en-IL" sz="2000" b="1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Cost of self hosting AI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and vs 3</a:t>
            </a:r>
            <a:r>
              <a:rPr lang="en-US" sz="2000" baseline="30000" dirty="0"/>
              <a:t>rd</a:t>
            </a:r>
            <a:r>
              <a:rPr lang="en-US" sz="2000" dirty="0"/>
              <a:t> Party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Usage Inference Costs per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Costs per Workload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Costs per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Costs per Model Variant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deployed with different hardware, LoRa, </a:t>
            </a:r>
            <a:r>
              <a:rPr lang="en-US" sz="2000" dirty="0" err="1"/>
              <a:t>etc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Cost per Token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Per Model, Model Variant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KV Cache Costs and Savings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4414E-B836-0E86-117B-209A34BA3D2B}"/>
              </a:ext>
            </a:extLst>
          </p:cNvPr>
          <p:cNvSpPr txBox="1"/>
          <p:nvPr/>
        </p:nvSpPr>
        <p:spPr>
          <a:xfrm>
            <a:off x="1790698" y="4614361"/>
            <a:ext cx="16067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base inference metrics (token latency, token throughput, cache)</a:t>
            </a:r>
            <a:endParaRPr lang="en-IL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6B403-B5BB-D90D-48BE-B2C74AABE68D}"/>
              </a:ext>
            </a:extLst>
          </p:cNvPr>
          <p:cNvSpPr txBox="1"/>
          <p:nvPr/>
        </p:nvSpPr>
        <p:spPr>
          <a:xfrm>
            <a:off x="1761550" y="4629277"/>
            <a:ext cx="275896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EPP metrics track how requests are routed, scheduled, and load-balanced across multiple </a:t>
            </a:r>
            <a:r>
              <a:rPr lang="en-US" sz="1600" err="1"/>
              <a:t>vLLM</a:t>
            </a:r>
            <a:r>
              <a:rPr lang="en-US" sz="1600"/>
              <a:t> instances</a:t>
            </a:r>
            <a:br>
              <a:rPr lang="en-US"/>
            </a:br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33F614-3E47-4D7E-F963-A548FFA46031}"/>
              </a:ext>
            </a:extLst>
          </p:cNvPr>
          <p:cNvSpPr txBox="1"/>
          <p:nvPr/>
        </p:nvSpPr>
        <p:spPr>
          <a:xfrm>
            <a:off x="1193803" y="3712452"/>
            <a:ext cx="939580" cy="5714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US" sz="2000" b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+ </a:t>
            </a:r>
            <a:r>
              <a:rPr lang="en-US" sz="2000" b="1" err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Llm</a:t>
            </a:r>
            <a:r>
              <a:rPr lang="en-US" sz="2000" b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-d</a:t>
            </a:r>
            <a:endParaRPr lang="en-IL" sz="2000" b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4769C-9086-A215-AFA1-247067BD19FE}"/>
              </a:ext>
            </a:extLst>
          </p:cNvPr>
          <p:cNvSpPr txBox="1"/>
          <p:nvPr/>
        </p:nvSpPr>
        <p:spPr>
          <a:xfrm>
            <a:off x="409248" y="3712452"/>
            <a:ext cx="590769" cy="5714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 b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vllm</a:t>
            </a:r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ABF06B-2B15-44E2-7C46-4C613A3EF5A5}"/>
              </a:ext>
            </a:extLst>
          </p:cNvPr>
          <p:cNvSpPr txBox="1"/>
          <p:nvPr/>
        </p:nvSpPr>
        <p:spPr>
          <a:xfrm>
            <a:off x="2249215" y="3697536"/>
            <a:ext cx="1578960" cy="5714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 b="1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+ OpenCost</a:t>
            </a:r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80DAC5-5258-2D98-5319-1BAFD8628762}"/>
              </a:ext>
            </a:extLst>
          </p:cNvPr>
          <p:cNvSpPr txBox="1"/>
          <p:nvPr/>
        </p:nvSpPr>
        <p:spPr>
          <a:xfrm>
            <a:off x="5300533" y="4213493"/>
            <a:ext cx="849955" cy="4408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lang="en-US" sz="12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Aggregation queries</a:t>
            </a:r>
            <a:endParaRPr lang="en-IL" sz="120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D31A6-AE3D-EC9C-3E26-9D999D324FA3}"/>
              </a:ext>
            </a:extLst>
          </p:cNvPr>
          <p:cNvSpPr txBox="1"/>
          <p:nvPr/>
        </p:nvSpPr>
        <p:spPr>
          <a:xfrm>
            <a:off x="1783190" y="4651545"/>
            <a:ext cx="128917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GPU + other costs</a:t>
            </a:r>
            <a:br>
              <a:rPr lang="en-US"/>
            </a:b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0314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  <p:bldP spid="10" grpId="0"/>
      <p:bldP spid="12" grpId="0"/>
      <p:bldP spid="13" grpId="0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82FC37-3254-8EB4-1279-880B16DDD2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D0A848-D036-0039-9131-9EF51E25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449580"/>
            <a:ext cx="11430000" cy="571500"/>
          </a:xfrm>
        </p:spPr>
        <p:txBody>
          <a:bodyPr/>
          <a:lstStyle/>
          <a:p>
            <a:r>
              <a:rPr lang="en-IL" dirty="0"/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CACF7D-F965-3293-9F0F-C67BDDBD0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53" y="153976"/>
            <a:ext cx="6950149" cy="65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6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AE504-BB27-487B-14FF-87489891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DDE34F-309B-3FF1-A2B2-F650812B47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BEE87D-5240-C78B-B26A-013EE906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Status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67A997-61BE-DCF7-E644-5A2957E52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99250"/>
              </p:ext>
            </p:extLst>
          </p:nvPr>
        </p:nvGraphicFramePr>
        <p:xfrm>
          <a:off x="247650" y="1538829"/>
          <a:ext cx="11366499" cy="4559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509">
                  <a:extLst>
                    <a:ext uri="{9D8B030D-6E8A-4147-A177-3AD203B41FA5}">
                      <a16:colId xmlns:a16="http://schemas.microsoft.com/office/drawing/2014/main" val="3800683466"/>
                    </a:ext>
                  </a:extLst>
                </a:gridCol>
                <a:gridCol w="4492157">
                  <a:extLst>
                    <a:ext uri="{9D8B030D-6E8A-4147-A177-3AD203B41FA5}">
                      <a16:colId xmlns:a16="http://schemas.microsoft.com/office/drawing/2014/main" val="833724819"/>
                    </a:ext>
                  </a:extLst>
                </a:gridCol>
                <a:gridCol w="3788833">
                  <a:extLst>
                    <a:ext uri="{9D8B030D-6E8A-4147-A177-3AD203B41FA5}">
                      <a16:colId xmlns:a16="http://schemas.microsoft.com/office/drawing/2014/main" val="808466001"/>
                    </a:ext>
                  </a:extLst>
                </a:gridCol>
              </a:tblGrid>
              <a:tr h="413488">
                <a:tc>
                  <a:txBody>
                    <a:bodyPr/>
                    <a:lstStyle/>
                    <a:p>
                      <a:r>
                        <a:rPr lang="en-IL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503165"/>
                  </a:ext>
                </a:extLst>
              </a:tr>
              <a:tr h="658907">
                <a:tc>
                  <a:txBody>
                    <a:bodyPr/>
                    <a:lstStyle/>
                    <a:p>
                      <a:r>
                        <a:rPr lang="en-IL" sz="1400" dirty="0">
                          <a:hlinkClick r:id="rId2"/>
                        </a:rPr>
                        <a:t>POC</a:t>
                      </a:r>
                      <a:r>
                        <a:rPr lang="en-IL" sz="1400" dirty="0"/>
                        <a:t> on Research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>
                          <a:highlight>
                            <a:srgbClr val="00FF00"/>
                          </a:highlight>
                        </a:rPr>
                        <a:t>Complete </a:t>
                      </a:r>
                    </a:p>
                    <a:p>
                      <a:r>
                        <a:rPr lang="en-IL" sz="1400" dirty="0"/>
                        <a:t>Detailed review by OpenCost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Included GPU costs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163596"/>
                  </a:ext>
                </a:extLst>
              </a:tr>
              <a:tr h="782425">
                <a:tc>
                  <a:txBody>
                    <a:bodyPr/>
                    <a:lstStyle/>
                    <a:p>
                      <a:r>
                        <a:rPr lang="en-US" sz="1400" dirty="0">
                          <a:hlinkClick r:id="rId3"/>
                        </a:rPr>
                        <a:t>Detailed </a:t>
                      </a:r>
                      <a:r>
                        <a:rPr lang="en-IL" sz="1400" dirty="0">
                          <a:hlinkClick r:id="rId3"/>
                        </a:rPr>
                        <a:t>proposal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>
                          <a:highlight>
                            <a:srgbClr val="00FF00"/>
                          </a:highlight>
                        </a:rPr>
                        <a:t>Complete </a:t>
                      </a:r>
                      <a:r>
                        <a:rPr lang="en-IL" sz="1400" dirty="0"/>
                        <a:t>and Approved by OpenCost and llm-d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Submitted as an llm-d proposal</a:t>
                      </a:r>
                    </a:p>
                    <a:p>
                      <a:r>
                        <a:rPr lang="en-IL" sz="1400" dirty="0"/>
                        <a:t>Link from related OpenCost issue to proposal, to obtain input from both communities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97711"/>
                  </a:ext>
                </a:extLst>
              </a:tr>
              <a:tr h="537328">
                <a:tc>
                  <a:txBody>
                    <a:bodyPr/>
                    <a:lstStyle/>
                    <a:p>
                      <a:r>
                        <a:rPr lang="en-IL" sz="1400" dirty="0"/>
                        <a:t>Kubecon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>
                          <a:highlight>
                            <a:srgbClr val="FFFF00"/>
                          </a:highlight>
                        </a:rPr>
                        <a:t>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Joint talk with OpenCost maintainer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0818"/>
                  </a:ext>
                </a:extLst>
              </a:tr>
              <a:tr h="565608">
                <a:tc>
                  <a:txBody>
                    <a:bodyPr/>
                    <a:lstStyle/>
                    <a:p>
                      <a:r>
                        <a:rPr lang="en-IL" sz="1400" dirty="0"/>
                        <a:t>OpenCost – Added Inference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PR Submitted and under review</a:t>
                      </a:r>
                      <a:endParaRPr lang="en-IL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10283"/>
                  </a:ext>
                </a:extLst>
              </a:tr>
              <a:tr h="659877">
                <a:tc>
                  <a:txBody>
                    <a:bodyPr/>
                    <a:lstStyle/>
                    <a:p>
                      <a:r>
                        <a:rPr lang="en-IL" sz="1400"/>
                        <a:t>Inference Cost Evaluation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>
                          <a:highlight>
                            <a:srgbClr val="FFFF00"/>
                          </a:highlight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Deployed on Research OpenShift cluster and cost numbers being evaluated for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13437"/>
                  </a:ext>
                </a:extLst>
              </a:tr>
              <a:tr h="942340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</a:t>
                      </a:r>
                      <a:r>
                        <a:rPr lang="en-IL" sz="1400" dirty="0"/>
                        <a:t>lm-d – Updates to add inference costs</a:t>
                      </a:r>
                    </a:p>
                    <a:p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400" dirty="0">
                          <a:highlight>
                            <a:srgbClr val="FFFF00"/>
                          </a:highlight>
                        </a:rPr>
                        <a:t>Work in Progress</a:t>
                      </a:r>
                    </a:p>
                    <a:p>
                      <a:endParaRPr lang="en-IL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81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09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F102-D82D-CCAD-33D2-58A021B4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71E829-EADA-F4E5-A7E5-6B6C541698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7E736-AD59-A430-91C4-2D3A9C4B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OpenCost POC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D548A-21E6-69DD-1D58-DD2E7E4A8432}"/>
              </a:ext>
            </a:extLst>
          </p:cNvPr>
          <p:cNvSpPr txBox="1"/>
          <p:nvPr/>
        </p:nvSpPr>
        <p:spPr>
          <a:xfrm>
            <a:off x="114300" y="1548246"/>
            <a:ext cx="4447068" cy="39797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New Inference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Overall model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Cost per million tokens per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Cost per million input 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Cost per million output tokens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Based on </a:t>
            </a:r>
            <a:r>
              <a:rPr lang="en-US" sz="2000" b="1" dirty="0" err="1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OpenCost</a:t>
            </a:r>
            <a:endParaRPr lang="en-US" sz="2000" b="1" dirty="0">
              <a:solidFill>
                <a:srgbClr val="1D1C1D"/>
              </a:solidFill>
              <a:latin typeface="Slack-Lato"/>
              <a:ea typeface="IBM Plex Sans" charset="0"/>
              <a:cs typeface="IBM Plex Sans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Running in Research OpenShift Cluster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lack-Lato"/>
                <a:ea typeface="IBM Plex Sans" charset="0"/>
                <a:cs typeface="IBM Plex Sans" charset="0"/>
              </a:rPr>
              <a:t>Using dedicated Prometheus instance</a:t>
            </a:r>
          </a:p>
          <a:p>
            <a:pPr marL="685800" marR="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1D1C1D"/>
              </a:solidFill>
              <a:latin typeface="Slack-Lato"/>
              <a:ea typeface="IBM Plex Sans" charset="0"/>
              <a:cs typeface="IBM Plex Sans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46B306-5009-43E7-B982-E95F373C1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353" y="1330037"/>
            <a:ext cx="7438347" cy="49564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EB34BF-9C0D-43A7-0180-CBA8E29D7C10}"/>
              </a:ext>
            </a:extLst>
          </p:cNvPr>
          <p:cNvSpPr txBox="1"/>
          <p:nvPr/>
        </p:nvSpPr>
        <p:spPr>
          <a:xfrm>
            <a:off x="574158" y="5667153"/>
            <a:ext cx="914400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 dirty="0">
                <a:latin typeface="IBM Plex Sans" charset="0"/>
                <a:ea typeface="IBM Plex Sans" charset="0"/>
                <a:cs typeface="IBM Plex Sans" charset="0"/>
                <a:hlinkClick r:id="rId3"/>
              </a:rPr>
              <a:t>Details</a:t>
            </a:r>
            <a:endParaRPr lang="en-IL" sz="20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050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B11213-6611-DB17-5568-7FF1004A36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889FA5-B807-F39A-CBC4-9695AA2D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B2A74-72C8-E149-0BEC-52A0E381F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53" y="61350"/>
            <a:ext cx="11680093" cy="65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1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580B2A-7671-EAA1-EE24-8E7CBFF8C9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C9E497-F2B8-1440-0043-FB08B8D4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DD3AB-B431-E5C2-D078-3F22B5F0B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33" y="206965"/>
            <a:ext cx="11606067" cy="64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07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FFCD49-9FA9-4DDB-025C-C168F13BF6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10CF62-B90D-B812-2869-89890FDC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OpenCost POC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5C799-B341-A1C8-8C37-09935E459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61780"/>
            <a:ext cx="11622410" cy="4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39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CE23-BFEB-77E2-0E86-155DACF07A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IBM Corporation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BDCE7-91E6-9BB7-E7EB-9CA2B927EAB6}"/>
              </a:ext>
            </a:extLst>
          </p:cNvPr>
          <p:cNvSpPr txBox="1"/>
          <p:nvPr/>
        </p:nvSpPr>
        <p:spPr>
          <a:xfrm>
            <a:off x="2978426" y="3247647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b="0" i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endParaRPr lang="en-IL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015E29E7-B104-9212-DDE3-319968D51A8C}"/>
              </a:ext>
            </a:extLst>
          </p:cNvPr>
          <p:cNvSpPr txBox="1">
            <a:spLocks/>
          </p:cNvSpPr>
          <p:nvPr/>
        </p:nvSpPr>
        <p:spPr>
          <a:xfrm>
            <a:off x="779918" y="1401392"/>
            <a:ext cx="4638172" cy="4336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SzPct val="90000"/>
              <a:buFont typeface="IBM Plex Sans Light" pitchFamily="2" charset="2"/>
              <a:buNone/>
              <a:defRPr sz="18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SzPct val="100000"/>
              <a:buFont typeface="IBM Plex Sans Light" charset="-120"/>
              <a:buChar char="–"/>
              <a:tabLst/>
              <a:defRPr sz="18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SzPct val="100000"/>
              <a:buFont typeface="IBM Plex Sans Light" panose="020B0604020202020204" pitchFamily="34" charset="0"/>
              <a:buChar char="•"/>
              <a:tabLst/>
              <a:defRPr sz="18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SzPct val="100000"/>
              <a:buFont typeface="IBM Plex Sans Light" charset="-120"/>
              <a:buChar char="–"/>
              <a:tabLst/>
              <a:defRPr sz="1867" b="0" i="0" baseline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Font typeface="IBM Plex Sans Light" charset="-120"/>
              <a:buChar char="»"/>
              <a:tabLst/>
              <a:defRPr sz="18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 Light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 Light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 Light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 Light" charset="0"/>
              </a:defRPr>
            </a:lvl9pPr>
          </a:lstStyle>
          <a:p>
            <a:r>
              <a:rPr lang="en-IL" kern="0"/>
              <a:t> </a:t>
            </a:r>
          </a:p>
          <a:p>
            <a:endParaRPr lang="en-IL" kern="0"/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BCCB6F05-0F3C-4EC3-DD77-5A40F3620FCE}"/>
              </a:ext>
            </a:extLst>
          </p:cNvPr>
          <p:cNvSpPr txBox="1">
            <a:spLocks/>
          </p:cNvSpPr>
          <p:nvPr/>
        </p:nvSpPr>
        <p:spPr>
          <a:xfrm>
            <a:off x="646084" y="1373849"/>
            <a:ext cx="4638172" cy="4336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SzPct val="90000"/>
              <a:buFont typeface="IBM Plex Sans Light" pitchFamily="2" charset="2"/>
              <a:buNone/>
              <a:defRPr sz="18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SzPct val="100000"/>
              <a:buFont typeface="IBM Plex Sans Light" charset="-120"/>
              <a:buChar char="–"/>
              <a:tabLst/>
              <a:defRPr sz="18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SzPct val="100000"/>
              <a:buFont typeface="IBM Plex Sans Light" panose="020B0604020202020204" pitchFamily="34" charset="0"/>
              <a:buChar char="•"/>
              <a:tabLst/>
              <a:defRPr sz="18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SzPct val="100000"/>
              <a:buFont typeface="IBM Plex Sans Light" charset="-120"/>
              <a:buChar char="–"/>
              <a:tabLst/>
              <a:defRPr sz="1867" b="0" i="0" baseline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001141"/>
              </a:buClr>
              <a:buFont typeface="IBM Plex Sans Light" charset="-120"/>
              <a:buChar char="»"/>
              <a:tabLst/>
              <a:defRPr sz="18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 Light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 Light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 Light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 Light" charset="0"/>
              </a:defRPr>
            </a:lvl9pPr>
          </a:lstStyle>
          <a:p>
            <a:endParaRPr lang="en-IL" kern="0"/>
          </a:p>
        </p:txBody>
      </p:sp>
      <p:pic>
        <p:nvPicPr>
          <p:cNvPr id="1026" name="Picture 2" descr="Minnet - Vikipedi">
            <a:extLst>
              <a:ext uri="{FF2B5EF4-FFF2-40B4-BE49-F238E27FC236}">
                <a16:creationId xmlns:a16="http://schemas.microsoft.com/office/drawing/2014/main" id="{29686177-4AFD-30B5-C79F-3121A1135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24" y="536804"/>
            <a:ext cx="11235592" cy="606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A9BAD0-33E8-ACA8-6B80-C0E53BA3F8C1}"/>
              </a:ext>
            </a:extLst>
          </p:cNvPr>
          <p:cNvSpPr txBox="1"/>
          <p:nvPr/>
        </p:nvSpPr>
        <p:spPr>
          <a:xfrm>
            <a:off x="1651990" y="5279250"/>
            <a:ext cx="1313180" cy="861774"/>
          </a:xfrm>
          <a:prstGeom prst="rect">
            <a:avLst/>
          </a:prstGeom>
          <a:noFill/>
        </p:spPr>
        <p:txBody>
          <a:bodyPr wrap="none" lIns="91440" tIns="91440" rIns="91440" bIns="91440" rtlCol="0">
            <a:spAutoFit/>
          </a:bodyPr>
          <a:lstStyle/>
          <a:p>
            <a:pPr algn="l">
              <a:spcBef>
                <a:spcPts val="1100"/>
              </a:spcBef>
            </a:pPr>
            <a:r>
              <a:rPr lang="he-IL" sz="4400">
                <a:solidFill>
                  <a:srgbClr val="FA4D56"/>
                </a:solidFill>
                <a:latin typeface="+mn-lt"/>
                <a:ea typeface="IBM Plex Sans" charset="0"/>
                <a:cs typeface="IBM Plex Sans" charset="0"/>
              </a:rPr>
              <a:t>תודה</a:t>
            </a:r>
            <a:endParaRPr lang="en-US" sz="1400">
              <a:solidFill>
                <a:srgbClr val="FA4D56"/>
              </a:solidFill>
              <a:latin typeface="+mn-lt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368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5BFDF9-B857-4C9F-618E-3B9449F9E8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D8C92C-103E-B6E1-7F90-998D4C766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 Hosted Inference </a:t>
            </a:r>
            <a:r>
              <a:rPr lang="en-IL"/>
              <a:t>Costs vs Frontier Model Pricing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5A933A-304B-B7CF-C17B-AEECED6D0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435487"/>
              </p:ext>
            </p:extLst>
          </p:nvPr>
        </p:nvGraphicFramePr>
        <p:xfrm>
          <a:off x="776451" y="1264920"/>
          <a:ext cx="10639097" cy="5117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3959">
                  <a:extLst>
                    <a:ext uri="{9D8B030D-6E8A-4147-A177-3AD203B41FA5}">
                      <a16:colId xmlns:a16="http://schemas.microsoft.com/office/drawing/2014/main" val="3803085770"/>
                    </a:ext>
                  </a:extLst>
                </a:gridCol>
                <a:gridCol w="3003959">
                  <a:extLst>
                    <a:ext uri="{9D8B030D-6E8A-4147-A177-3AD203B41FA5}">
                      <a16:colId xmlns:a16="http://schemas.microsoft.com/office/drawing/2014/main" val="4275935354"/>
                    </a:ext>
                  </a:extLst>
                </a:gridCol>
                <a:gridCol w="4631179">
                  <a:extLst>
                    <a:ext uri="{9D8B030D-6E8A-4147-A177-3AD203B41FA5}">
                      <a16:colId xmlns:a16="http://schemas.microsoft.com/office/drawing/2014/main" val="4199608730"/>
                    </a:ext>
                  </a:extLst>
                </a:gridCol>
              </a:tblGrid>
              <a:tr h="395890"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3rd Party Charging Param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Proposed L</a:t>
                      </a:r>
                      <a:r>
                        <a:rPr lang="en-IL"/>
                        <a:t>lm-d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Relevant llm-d Atributes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3240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endParaRPr lang="en-IL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582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</a:t>
                      </a:r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ost per input, output token</a:t>
                      </a: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Data Residency</a:t>
                      </a: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Batch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/>
                        <a:t>Cost per token / million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/>
                        <a:t>model, </a:t>
                      </a:r>
                      <a:r>
                        <a:rPr lang="en-IL" b="0"/>
                        <a:t>input tokens, output tokens, client region, workload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108654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Cache </a:t>
                      </a:r>
                      <a:r>
                        <a:rPr lang="en-US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Refreshes</a:t>
                      </a:r>
                      <a:endParaRPr lang="en-IL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  <a:r>
                        <a:rPr lang="en-IL"/>
                        <a:t>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13788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Cache Hits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Caching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model</a:t>
                      </a: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95222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endParaRPr lang="en-IL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8407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Tool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rgbClr val="BD0610"/>
                          </a:solidFill>
                        </a:rPr>
                        <a:t>Tool Usage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rgbClr val="BD0610"/>
                          </a:solidFill>
                        </a:rPr>
                        <a:t>Model, Tool Tokens, Tool Service Charges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025231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chemeClr val="bg1"/>
                          </a:solidFill>
                        </a:rPr>
                        <a:t>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chemeClr val="bg1"/>
                          </a:solidFill>
                        </a:rPr>
                        <a:t>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721033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endParaRPr lang="en-IL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903336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Context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Model Variant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468174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Modality – text, audio, video,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i="1"/>
                        <a:t>Text only??</a:t>
                      </a:r>
                    </a:p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7751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AA59AD-D45F-9219-9B69-58A113265203}"/>
              </a:ext>
            </a:extLst>
          </p:cNvPr>
          <p:cNvSpPr txBox="1"/>
          <p:nvPr/>
        </p:nvSpPr>
        <p:spPr>
          <a:xfrm>
            <a:off x="9065172" y="114300"/>
            <a:ext cx="2921876" cy="914400"/>
          </a:xfrm>
          <a:prstGeom prst="rect">
            <a:avLst/>
          </a:prstGeom>
          <a:solidFill>
            <a:srgbClr val="92D050"/>
          </a:solidFill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US" sz="2000">
                <a:hlinkClick r:id="rId3"/>
              </a:rPr>
              <a:t>Claude</a:t>
            </a:r>
            <a:r>
              <a:rPr lang="en-US" sz="2000"/>
              <a:t>, </a:t>
            </a:r>
            <a:r>
              <a:rPr lang="en-US" sz="2000">
                <a:hlinkClick r:id="rId4"/>
              </a:rPr>
              <a:t>OpenAI</a:t>
            </a:r>
            <a:endParaRPr lang="en-US" sz="2000"/>
          </a:p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US" sz="2000">
                <a:hlinkClick r:id="rId5"/>
              </a:rPr>
              <a:t>*Claude Prompt Caching </a:t>
            </a:r>
            <a:endParaRPr lang="en-US" sz="2000"/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40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808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331D97-481E-0791-F49A-B7B578FBF6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B3880B-E731-6415-0D32-5CFEE486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</a:t>
            </a:r>
            <a:r>
              <a:rPr lang="en-IL"/>
              <a:t>lm-d Concepts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BB293C-754A-F5A3-A942-6C4C4A6EA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184261"/>
              </p:ext>
            </p:extLst>
          </p:nvPr>
        </p:nvGraphicFramePr>
        <p:xfrm>
          <a:off x="444500" y="1348215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826101036"/>
                    </a:ext>
                  </a:extLst>
                </a:gridCol>
                <a:gridCol w="2987548">
                  <a:extLst>
                    <a:ext uri="{9D8B030D-6E8A-4147-A177-3AD203B41FA5}">
                      <a16:colId xmlns:a16="http://schemas.microsoft.com/office/drawing/2014/main" val="4275935354"/>
                    </a:ext>
                  </a:extLst>
                </a:gridCol>
                <a:gridCol w="4632452">
                  <a:extLst>
                    <a:ext uri="{9D8B030D-6E8A-4147-A177-3AD203B41FA5}">
                      <a16:colId xmlns:a16="http://schemas.microsoft.com/office/drawing/2014/main" val="4199608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L"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3240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US" sz="1800"/>
                        <a:t>M</a:t>
                      </a:r>
                      <a:r>
                        <a:rPr lang="en-IL" sz="1800"/>
                        <a:t>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meta/llama-3.1-8b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Each inference pool deploys only one model, and typically each model will be deployed in one inference pool</a:t>
                      </a:r>
                      <a:endParaRPr lang="en-IL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13788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800"/>
                        <a:t>Model 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meta/llama-3.1-8b: </a:t>
                      </a:r>
                      <a:r>
                        <a:rPr lang="en-US" sz="1800"/>
                        <a:t>P</a:t>
                      </a:r>
                      <a:r>
                        <a:rPr lang="en-IL" sz="1800"/>
                        <a:t>refill</a:t>
                      </a: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meta/llama-3.1-8b: </a:t>
                      </a:r>
                      <a:r>
                        <a:rPr lang="en-IL" sz="1800"/>
                        <a:t>decode</a:t>
                      </a:r>
                      <a:br>
                        <a:rPr lang="en-IL" sz="1800"/>
                      </a:br>
                      <a:endParaRPr lang="en-IL" sz="1800"/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800"/>
                        <a:t>---</a:t>
                      </a:r>
                      <a:br>
                        <a:rPr lang="en-IL" sz="1800"/>
                      </a:b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meta/llama-3.1-8b</a:t>
                      </a:r>
                      <a:r>
                        <a:rPr lang="en-IL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Dev </a:t>
                      </a: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meta/llama-3.1-8b: Prod</a:t>
                      </a: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model 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different GPU types (A100 vs H100 vs L4), different LoRa, different serving configurations and different cost/performance characteristics</a:t>
                      </a:r>
                      <a:b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Scaling is done at model variant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95222"/>
                  </a:ext>
                </a:extLst>
              </a:tr>
              <a:tr h="533925">
                <a:tc>
                  <a:txBody>
                    <a:bodyPr/>
                    <a:lstStyle/>
                    <a:p>
                      <a:r>
                        <a:rPr lang="en-IL" sz="1800"/>
                        <a:t>KV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800"/>
                        <a:t>Model level.  Can be shared between variants of the same model </a:t>
                      </a:r>
                      <a:r>
                        <a:rPr lang="en-IL" sz="1800" b="1"/>
                        <a:t>but not between models</a:t>
                      </a:r>
                      <a:endParaRPr lang="en-IL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8407"/>
                  </a:ext>
                </a:extLst>
              </a:tr>
              <a:tr h="533925">
                <a:tc>
                  <a:txBody>
                    <a:bodyPr/>
                    <a:lstStyle/>
                    <a:p>
                      <a:r>
                        <a:rPr lang="en-IL" sz="1800"/>
                        <a:t>InferencePool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800"/>
                        <a:t>Collection of model variants </a:t>
                      </a:r>
                      <a:r>
                        <a:rPr lang="en-US" sz="1800"/>
                        <a:t>&amp; </a:t>
                      </a:r>
                      <a:r>
                        <a:rPr lang="en-IL" sz="1800"/>
                        <a:t>mechanisms for managing them – routers, KV cache, auto scaler,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6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431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500B04-D907-71B5-1567-20E5E0EC8F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D7FC21-8230-540A-624D-8106A2A85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Existing Metrics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E2135-18C7-5A8B-4BB0-F6106F869F26}"/>
              </a:ext>
            </a:extLst>
          </p:cNvPr>
          <p:cNvSpPr txBox="1"/>
          <p:nvPr/>
        </p:nvSpPr>
        <p:spPr>
          <a:xfrm>
            <a:off x="183931" y="1473200"/>
            <a:ext cx="6854934" cy="516382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/>
              <a:t>Inference Metrics</a:t>
            </a:r>
            <a:endParaRPr lang="en-US"/>
          </a:p>
          <a:p>
            <a:endParaRPr lang="en-US"/>
          </a:p>
          <a:p>
            <a:r>
              <a:rPr lang="en-US"/>
              <a:t>1. </a:t>
            </a:r>
            <a:r>
              <a:rPr lang="en-US" b="1" err="1"/>
              <a:t>vLLM</a:t>
            </a:r>
            <a:r>
              <a:rPr lang="en-US" b="1"/>
              <a:t> provides the foundation: </a:t>
            </a:r>
            <a:r>
              <a:rPr lang="en-US"/>
              <a:t> All base inference metrics (token latency, token throughput, cache) come from </a:t>
            </a:r>
            <a:r>
              <a:rPr lang="en-US" err="1"/>
              <a:t>vLLM's</a:t>
            </a:r>
            <a:r>
              <a:rPr lang="en-US"/>
              <a:t> Prometheus endpoint</a:t>
            </a:r>
            <a:br>
              <a:rPr lang="en-US"/>
            </a:br>
            <a:endParaRPr lang="en-US"/>
          </a:p>
          <a:p>
            <a:r>
              <a:rPr lang="en-US"/>
              <a:t>2. </a:t>
            </a:r>
            <a:r>
              <a:rPr lang="en-US" b="1" err="1"/>
              <a:t>llm</a:t>
            </a:r>
            <a:r>
              <a:rPr lang="en-US" b="1"/>
              <a:t>-d adds orchestration intelligence</a:t>
            </a:r>
            <a:r>
              <a:rPr lang="en-US"/>
              <a:t>: EPP metrics track how requests are routed, scheduled, and load-balanced across multiple </a:t>
            </a:r>
            <a:r>
              <a:rPr lang="en-US" err="1"/>
              <a:t>vLLM</a:t>
            </a:r>
            <a:r>
              <a:rPr lang="en-US"/>
              <a:t> instances</a:t>
            </a:r>
            <a:br>
              <a:rPr lang="en-US"/>
            </a:br>
            <a:endParaRPr lang="en-US"/>
          </a:p>
          <a:p>
            <a:r>
              <a:rPr lang="en-US"/>
              <a:t>3. </a:t>
            </a:r>
            <a:r>
              <a:rPr lang="en-US" b="1"/>
              <a:t>Complementary insights</a:t>
            </a:r>
            <a:r>
              <a:rPr lang="en-US"/>
              <a:t>: </a:t>
            </a:r>
            <a:r>
              <a:rPr lang="en-US" err="1"/>
              <a:t>vLLM</a:t>
            </a:r>
            <a:r>
              <a:rPr lang="en-US"/>
              <a:t> metrics show per model variant performance; </a:t>
            </a:r>
            <a:r>
              <a:rPr lang="en-US" err="1"/>
              <a:t>llm</a:t>
            </a:r>
            <a:r>
              <a:rPr lang="en-US"/>
              <a:t>-d metrics show system-wide (multi-model and multi-variant) routing efficiency and resource utilization</a:t>
            </a:r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BB08F-9CED-BEA0-1B9E-FD6BEE3F8C6B}"/>
              </a:ext>
            </a:extLst>
          </p:cNvPr>
          <p:cNvSpPr txBox="1"/>
          <p:nvPr/>
        </p:nvSpPr>
        <p:spPr>
          <a:xfrm>
            <a:off x="7583214" y="1473200"/>
            <a:ext cx="4424855" cy="516382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err="1">
                <a:hlinkClick r:id="rId2"/>
              </a:rPr>
              <a:t>OpenCost</a:t>
            </a:r>
            <a:r>
              <a:rPr lang="en-US" b="1">
                <a:hlinkClick r:id="rId2"/>
              </a:rPr>
              <a:t> Metrics</a:t>
            </a:r>
            <a:endParaRPr lang="en-US"/>
          </a:p>
          <a:p>
            <a:br>
              <a:rPr lang="en-US"/>
            </a:br>
            <a:endParaRPr lang="en-US"/>
          </a:p>
          <a:p>
            <a:r>
              <a:rPr lang="en-US"/>
              <a:t>Ingested – </a:t>
            </a:r>
            <a:r>
              <a:rPr lang="en-US">
                <a:hlinkClick r:id="rId3"/>
              </a:rPr>
              <a:t>k8s metrics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node metrics from node-exporter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State metrics from </a:t>
            </a:r>
            <a:r>
              <a:rPr lang="en-US" err="1"/>
              <a:t>kube</a:t>
            </a:r>
            <a:r>
              <a:rPr lang="en-US"/>
              <a:t>-state-metrics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>
                <a:hlinkClick r:id="rId4"/>
              </a:rPr>
              <a:t>Generated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Node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Resource allocations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Network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Storage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Costs associate with labels – namespace: node, service, deployment, stateful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Operation metrics </a:t>
            </a:r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103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AE8A1-9ABD-EA87-67B0-1CF60A07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FAA905-F50F-5CC5-A9EA-26C3B4DD2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7E07A4-C5F4-3968-4C75-A4AC6EBA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B23EB5A-BCE1-5A48-65F2-8C1ECDB2A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63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80F09F-B410-8BD7-8E65-BD5A7424B7D4}"/>
              </a:ext>
            </a:extLst>
          </p:cNvPr>
          <p:cNvGraphicFramePr>
            <a:graphicFrameLocks noGrp="1"/>
          </p:cNvGraphicFramePr>
          <p:nvPr/>
        </p:nvGraphicFramePr>
        <p:xfrm>
          <a:off x="215900" y="1264920"/>
          <a:ext cx="11430000" cy="4982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826101036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27593535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199608730"/>
                    </a:ext>
                  </a:extLst>
                </a:gridCol>
              </a:tblGrid>
              <a:tr h="395890">
                <a:tc>
                  <a:txBody>
                    <a:bodyPr/>
                    <a:lstStyle/>
                    <a:p>
                      <a:r>
                        <a:rPr lang="en-IL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3240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/>
                        <a:t>AI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</a:t>
                      </a:r>
                      <a:r>
                        <a:rPr lang="en-IL" sz="1600"/>
                        <a:t>nference, training, finetune, 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AI workload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108654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US" sz="1600"/>
                        <a:t>M</a:t>
                      </a:r>
                      <a:r>
                        <a:rPr lang="en-IL" sz="1600"/>
                        <a:t>odel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meta/llama-3.1-8b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= llm-d InferencePool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13788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/>
                        <a:t>Model 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</a:t>
                      </a:r>
                      <a:r>
                        <a:rPr lang="en-IL" sz="1600"/>
                        <a:t>refill model / decode model</a:t>
                      </a:r>
                      <a:br>
                        <a:rPr lang="en-IL" sz="1600"/>
                      </a:br>
                      <a:br>
                        <a:rPr lang="en-IL" sz="1600"/>
                      </a:br>
                      <a:r>
                        <a:rPr lang="en-IL" sz="1600"/>
                        <a:t>Dev vs Production deployments of same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model </a:t>
                      </a: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different GPU types (A100 vs H100 vs L4), different LoRa, different serving configurations and different cost/performance 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95222"/>
                  </a:ext>
                </a:extLst>
              </a:tr>
              <a:tr h="533925">
                <a:tc>
                  <a:txBody>
                    <a:bodyPr/>
                    <a:lstStyle/>
                    <a:p>
                      <a:r>
                        <a:rPr lang="en-IL" sz="1600"/>
                        <a:t>Client ID / cost center + UserID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HR, marketing, dev + JoeSmith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Multi-tenant allocation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8407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US-east,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Geographic origin of the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297616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/>
                        <a:t>Workload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Travel Agent, Customer Support 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Some identifier for the workload being run by the client</a:t>
                      </a:r>
                      <a:endParaRPr lang="en-IL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025231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/>
                        <a:t>Workload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Batch, Interactive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Affects the acceptable latency and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721033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600"/>
                        <a:t>Cluster ID + llm-d deployment ID + cluster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736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991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AC9A0-1615-8ACE-1C51-34A53DC0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2AD5E-F95A-B4DF-A18F-AA99F304F5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A6B5E6-2C03-2DA2-F99D-0664F188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SaaS Model Costs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81073-5D88-1DA6-1D53-F7615F957AAB}"/>
              </a:ext>
            </a:extLst>
          </p:cNvPr>
          <p:cNvSpPr txBox="1"/>
          <p:nvPr/>
        </p:nvSpPr>
        <p:spPr>
          <a:xfrm>
            <a:off x="114299" y="1548246"/>
            <a:ext cx="4421125" cy="39797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Model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Base input tokens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5 minute / 1 hour Cache Writes*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Cache Hits and Refreshes*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Output Tokens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Data residency - Single region, multi-region, global endpoints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Fast mode ?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Batch processing - 50% discount over real-time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dirty="0"/>
              <a:t>Batch input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dirty="0"/>
              <a:t>Batch output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Context Size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dirty="0"/>
              <a:t>Modality – text, image, audio, video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9B875-5DE9-652C-4391-1F726D5E3A82}"/>
              </a:ext>
            </a:extLst>
          </p:cNvPr>
          <p:cNvSpPr txBox="1"/>
          <p:nvPr/>
        </p:nvSpPr>
        <p:spPr>
          <a:xfrm>
            <a:off x="4632960" y="1439141"/>
            <a:ext cx="3810000" cy="39797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/>
              <a:t>Tool Use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/>
              <a:t>Client side tools - same as any other API request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/>
              <a:t>Server side tools - additional usage-based pricing (</a:t>
            </a:r>
            <a:r>
              <a:rPr lang="en-US" err="1"/>
              <a:t>eg</a:t>
            </a:r>
            <a:r>
              <a:rPr lang="en-US"/>
              <a:t> web search charge)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/>
              <a:t>The additional tokens from tool use come from: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/>
              <a:t>The tools parameter in API requests (tool names, descriptions, and schemas)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err="1"/>
              <a:t>tool_use</a:t>
            </a:r>
            <a:r>
              <a:rPr lang="en-US"/>
              <a:t> content blocks in API requests and responses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err="1"/>
              <a:t>tool_result</a:t>
            </a:r>
            <a:r>
              <a:rPr lang="en-US"/>
              <a:t> content blocks in API requests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/>
              <a:t>Managed Agents?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/>
              <a:t>Session runtime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73DA9-52BC-7F9D-A97E-7FC4ABDBF07E}"/>
              </a:ext>
            </a:extLst>
          </p:cNvPr>
          <p:cNvSpPr txBox="1"/>
          <p:nvPr/>
        </p:nvSpPr>
        <p:spPr>
          <a:xfrm>
            <a:off x="9485376" y="1725030"/>
            <a:ext cx="2592327" cy="39797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/>
              <a:t>Volume discounts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/>
              <a:t>Enterprise pricing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/>
              <a:t>Custom rate limits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/>
              <a:t>Volume discounts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/>
              <a:t>Dedicated support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/>
              <a:t>Custom terms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1E312-B61C-1ACF-68F4-E083C3678CFA}"/>
              </a:ext>
            </a:extLst>
          </p:cNvPr>
          <p:cNvSpPr txBox="1"/>
          <p:nvPr/>
        </p:nvSpPr>
        <p:spPr>
          <a:xfrm>
            <a:off x="1584960" y="5791200"/>
            <a:ext cx="914400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US">
                <a:hlinkClick r:id="rId2"/>
              </a:rPr>
              <a:t>Pricing: Claude</a:t>
            </a:r>
            <a:r>
              <a:rPr lang="en-US"/>
              <a:t>, </a:t>
            </a:r>
            <a:r>
              <a:rPr lang="en-US">
                <a:hlinkClick r:id="rId3"/>
              </a:rPr>
              <a:t>OpenAI</a:t>
            </a:r>
            <a:endParaRPr lang="en-US"/>
          </a:p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US">
                <a:hlinkClick r:id="rId4"/>
              </a:rPr>
              <a:t>*Claude Prompt Caching </a:t>
            </a:r>
            <a:endParaRPr lang="en-US"/>
          </a:p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217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F278-A691-4F36-95ED-F7F3B3FA5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644892-FAD2-1087-4FC3-694ECF272E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4F2309-7EA7-F2BE-6831-0D95B105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vLLM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62828-D914-4925-A094-8C84D80BF5E9}"/>
              </a:ext>
            </a:extLst>
          </p:cNvPr>
          <p:cNvSpPr txBox="1"/>
          <p:nvPr/>
        </p:nvSpPr>
        <p:spPr>
          <a:xfrm>
            <a:off x="239548" y="1264920"/>
            <a:ext cx="3943350" cy="516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err="1"/>
              <a:t>vLLM</a:t>
            </a:r>
            <a:endParaRPr lang="en-US" b="1"/>
          </a:p>
          <a:p>
            <a:endParaRPr lang="en-US" b="1"/>
          </a:p>
          <a:p>
            <a:r>
              <a:rPr lang="en-US" b="1"/>
              <a:t>Performance Statistics Dashboard</a:t>
            </a:r>
            <a:endParaRPr lang="en-US"/>
          </a:p>
          <a:p>
            <a:r>
              <a:rPr lang="en-US"/>
              <a:t>Tracks latency, throughput, and performance metrics:</a:t>
            </a:r>
          </a:p>
          <a:p>
            <a:r>
              <a:rPr lang="en-US"/>
              <a:t>- Time to First Token (TTFT)</a:t>
            </a:r>
          </a:p>
          <a:p>
            <a:r>
              <a:rPr lang="en-US"/>
              <a:t>- Inter-token latency</a:t>
            </a:r>
          </a:p>
          <a:p>
            <a:r>
              <a:rPr lang="en-US"/>
              <a:t>- Request throughput</a:t>
            </a:r>
          </a:p>
          <a:p>
            <a:r>
              <a:rPr lang="en-US"/>
              <a:t>- Token generation rates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Query Statistics Dashboard</a:t>
            </a:r>
            <a:endParaRPr lang="en-US"/>
          </a:p>
          <a:p>
            <a:r>
              <a:rPr lang="en-US"/>
              <a:t>Monitors request volume, query performance, and KPIs:</a:t>
            </a:r>
          </a:p>
          <a:p>
            <a:r>
              <a:rPr lang="en-US"/>
              <a:t>- Request rates and volumes</a:t>
            </a:r>
          </a:p>
          <a:p>
            <a:r>
              <a:rPr lang="en-US"/>
              <a:t>- Query success/failure rates</a:t>
            </a:r>
          </a:p>
          <a:p>
            <a:r>
              <a:rPr lang="en-US"/>
              <a:t>- Request queue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778F3-680E-E590-5CDF-2F7EFC0B0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455" y="2178939"/>
            <a:ext cx="8357298" cy="32759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52A48D-15BA-B87F-8FB4-DEC5B8C09001}"/>
              </a:ext>
            </a:extLst>
          </p:cNvPr>
          <p:cNvSpPr txBox="1"/>
          <p:nvPr/>
        </p:nvSpPr>
        <p:spPr>
          <a:xfrm>
            <a:off x="4619297" y="4997669"/>
            <a:ext cx="9144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IL" sz="200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C3D65-AB6B-7C59-5350-FA28C5C7F101}"/>
              </a:ext>
            </a:extLst>
          </p:cNvPr>
          <p:cNvSpPr txBox="1"/>
          <p:nvPr/>
        </p:nvSpPr>
        <p:spPr>
          <a:xfrm>
            <a:off x="5343945" y="6179820"/>
            <a:ext cx="914400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See notes for details</a:t>
            </a:r>
          </a:p>
        </p:txBody>
      </p:sp>
    </p:spTree>
    <p:extLst>
      <p:ext uri="{BB962C8B-B14F-4D97-AF65-F5344CB8AC3E}">
        <p14:creationId xmlns:p14="http://schemas.microsoft.com/office/powerpoint/2010/main" val="2527482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9CC5-8192-1A7D-5BEE-DCE28611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62647E-1317-76DC-57CF-FA381CD6E8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C765FC-0F91-BC71-352E-56A3F562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llm-d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49169-120B-862D-E19E-C58235AEB22A}"/>
              </a:ext>
            </a:extLst>
          </p:cNvPr>
          <p:cNvSpPr txBox="1"/>
          <p:nvPr/>
        </p:nvSpPr>
        <p:spPr>
          <a:xfrm>
            <a:off x="7258050" y="1264920"/>
            <a:ext cx="4686300" cy="2459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b="1"/>
              <a:t>Tier 3: P/D Disaggregation Metrics </a:t>
            </a:r>
            <a:endParaRPr lang="en-US"/>
          </a:p>
          <a:p>
            <a:r>
              <a:rPr lang="en-US"/>
              <a:t>Specialized metrics for prefill/decode separation:</a:t>
            </a:r>
          </a:p>
          <a:p>
            <a:r>
              <a:rPr lang="en-US" sz="1600"/>
              <a:t>`</a:t>
            </a:r>
            <a:r>
              <a:rPr lang="en-US" sz="1600" err="1"/>
              <a:t>llm_d_inference_scheduler_pd_decision_total</a:t>
            </a:r>
            <a:r>
              <a:rPr lang="en-US" sz="1600"/>
              <a:t>` </a:t>
            </a:r>
          </a:p>
          <a:p>
            <a:r>
              <a:rPr lang="en-US" sz="1600"/>
              <a:t>- P/D routing decisions</a:t>
            </a:r>
          </a:p>
          <a:p>
            <a:r>
              <a:rPr lang="en-US" sz="1600"/>
              <a:t>- Separate tracking for prefill vs decode worker utilization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29DFB8-27D4-2299-411A-1065EC77C8B2}"/>
              </a:ext>
            </a:extLst>
          </p:cNvPr>
          <p:cNvSpPr txBox="1"/>
          <p:nvPr/>
        </p:nvSpPr>
        <p:spPr>
          <a:xfrm>
            <a:off x="3349187" y="4425315"/>
            <a:ext cx="7817725" cy="2581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b="1"/>
              <a:t>Tier 2: EPP (Endpoint Picker) Metrics (Collected via </a:t>
            </a:r>
            <a:r>
              <a:rPr lang="en-US" b="1" err="1"/>
              <a:t>ServiceMonitors</a:t>
            </a:r>
            <a:r>
              <a:rPr lang="en-US" b="1"/>
              <a:t>)</a:t>
            </a:r>
            <a:endParaRPr lang="en-US"/>
          </a:p>
          <a:p>
            <a:r>
              <a:rPr lang="en-US" sz="1600"/>
              <a:t>- `</a:t>
            </a:r>
            <a:r>
              <a:rPr lang="en-US" sz="1600" err="1"/>
              <a:t>inference_objective_request_total</a:t>
            </a:r>
            <a:r>
              <a:rPr lang="en-US" sz="1600"/>
              <a:t>` - Total requests by model</a:t>
            </a:r>
          </a:p>
          <a:p>
            <a:r>
              <a:rPr lang="en-US" sz="1600"/>
              <a:t>- `</a:t>
            </a:r>
            <a:r>
              <a:rPr lang="en-US" sz="1600" err="1"/>
              <a:t>inference_objective_request_error_total</a:t>
            </a:r>
            <a:r>
              <a:rPr lang="en-US" sz="1600"/>
              <a:t>` - Error counts by type</a:t>
            </a:r>
          </a:p>
          <a:p>
            <a:r>
              <a:rPr lang="en-US" sz="1600"/>
              <a:t>- `</a:t>
            </a:r>
            <a:r>
              <a:rPr lang="en-US" sz="1600" err="1"/>
              <a:t>inference_objective_request_duration_seconds</a:t>
            </a:r>
            <a:r>
              <a:rPr lang="en-US" sz="1600"/>
              <a:t>` - E2E request latency</a:t>
            </a:r>
          </a:p>
          <a:p>
            <a:r>
              <a:rPr lang="en-US" sz="1600"/>
              <a:t>- `inference_extension_scheduler_e2e_duration_seconds` - EPP scheduling latency</a:t>
            </a:r>
          </a:p>
          <a:p>
            <a:r>
              <a:rPr lang="en-US" sz="1600"/>
              <a:t>- `</a:t>
            </a:r>
            <a:r>
              <a:rPr lang="en-US" sz="1600" err="1"/>
              <a:t>inference_extension_plugin_duration_seconds</a:t>
            </a:r>
            <a:r>
              <a:rPr lang="en-US" sz="1600"/>
              <a:t>` - Plugin processing times</a:t>
            </a:r>
          </a:p>
          <a:p>
            <a:r>
              <a:rPr lang="en-US" sz="1600"/>
              <a:t>- `</a:t>
            </a:r>
            <a:r>
              <a:rPr lang="en-US" sz="1600" err="1"/>
              <a:t>inference_extension_prefix_indexer_size</a:t>
            </a:r>
            <a:r>
              <a:rPr lang="en-US" sz="1600"/>
              <a:t>` - Prefix cache index size</a:t>
            </a:r>
          </a:p>
          <a:p>
            <a:r>
              <a:rPr lang="en-US" sz="1600"/>
              <a:t>- `</a:t>
            </a:r>
            <a:r>
              <a:rPr lang="en-US" sz="1600" err="1"/>
              <a:t>inference_extension_prefix_indexer_hit_ratio</a:t>
            </a:r>
            <a:r>
              <a:rPr lang="en-US" sz="1600"/>
              <a:t>` - Cache hit ratios</a:t>
            </a:r>
          </a:p>
          <a:p>
            <a:r>
              <a:rPr lang="en-US" sz="1600"/>
              <a:t>- `</a:t>
            </a:r>
            <a:r>
              <a:rPr lang="en-US" sz="1600" err="1"/>
              <a:t>inference_extension_flow_control_queue_size</a:t>
            </a:r>
            <a:r>
              <a:rPr lang="en-US" sz="1600"/>
              <a:t>` - Flow control queue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92F66-6D38-D045-4511-E2104FFD9992}"/>
              </a:ext>
            </a:extLst>
          </p:cNvPr>
          <p:cNvSpPr txBox="1"/>
          <p:nvPr/>
        </p:nvSpPr>
        <p:spPr>
          <a:xfrm>
            <a:off x="152400" y="1141730"/>
            <a:ext cx="5943600" cy="2459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b="1"/>
              <a:t>Tier 1: Core </a:t>
            </a:r>
            <a:r>
              <a:rPr lang="en-US" b="1" err="1"/>
              <a:t>vLLM</a:t>
            </a:r>
            <a:r>
              <a:rPr lang="en-US" b="1"/>
              <a:t> Metrics (via </a:t>
            </a:r>
            <a:r>
              <a:rPr lang="en-US" b="1" err="1"/>
              <a:t>PodMonitors</a:t>
            </a:r>
            <a:r>
              <a:rPr lang="en-US" b="1"/>
              <a:t>)</a:t>
            </a:r>
          </a:p>
          <a:p>
            <a:r>
              <a:rPr lang="en-US"/>
              <a:t>- </a:t>
            </a:r>
            <a:r>
              <a:rPr lang="en-US" sz="1600"/>
              <a:t>`</a:t>
            </a:r>
            <a:r>
              <a:rPr lang="en-US" sz="1600" err="1"/>
              <a:t>vllm:time_to_first_token_seconds</a:t>
            </a:r>
            <a:r>
              <a:rPr lang="en-US" sz="1600"/>
              <a:t>` - TTFT latency histograms</a:t>
            </a:r>
          </a:p>
          <a:p>
            <a:r>
              <a:rPr lang="en-US" sz="1600"/>
              <a:t>- `</a:t>
            </a:r>
            <a:r>
              <a:rPr lang="en-US" sz="1600" err="1"/>
              <a:t>vllm:inter_token_latency_seconds</a:t>
            </a:r>
            <a:r>
              <a:rPr lang="en-US" sz="1600"/>
              <a:t>` - Inter-token latency histograms</a:t>
            </a:r>
          </a:p>
          <a:p>
            <a:r>
              <a:rPr lang="en-US" sz="1600"/>
              <a:t>- `</a:t>
            </a:r>
            <a:r>
              <a:rPr lang="en-US" sz="1600" err="1"/>
              <a:t>vllm:kv_cache_usage_perc</a:t>
            </a:r>
            <a:r>
              <a:rPr lang="en-US" sz="1600"/>
              <a:t>` - KV cache utilization percentage</a:t>
            </a:r>
          </a:p>
          <a:p>
            <a:r>
              <a:rPr lang="en-US" sz="1600"/>
              <a:t>- `</a:t>
            </a:r>
            <a:r>
              <a:rPr lang="en-US" sz="1600" err="1"/>
              <a:t>vllm:num_requests_waiting</a:t>
            </a:r>
            <a:r>
              <a:rPr lang="en-US" sz="1600"/>
              <a:t>` - Request queue lengths</a:t>
            </a:r>
          </a:p>
          <a:p>
            <a:r>
              <a:rPr lang="en-US" sz="1600"/>
              <a:t>- `</a:t>
            </a:r>
            <a:r>
              <a:rPr lang="en-US" sz="1600" err="1"/>
              <a:t>vllm:num_requests_running</a:t>
            </a:r>
            <a:r>
              <a:rPr lang="en-US" sz="1600"/>
              <a:t>` - Active requests</a:t>
            </a:r>
          </a:p>
          <a:p>
            <a:r>
              <a:rPr lang="en-US" sz="1600"/>
              <a:t>- `</a:t>
            </a:r>
            <a:r>
              <a:rPr lang="en-US" sz="1600" err="1"/>
              <a:t>vllm:num_preemptions</a:t>
            </a:r>
            <a:r>
              <a:rPr lang="en-US" sz="1600"/>
              <a:t>` - Request preemption counts</a:t>
            </a:r>
          </a:p>
          <a:p>
            <a:r>
              <a:rPr lang="en-US" sz="1600"/>
              <a:t>- `</a:t>
            </a:r>
            <a:r>
              <a:rPr lang="en-US" sz="1600" err="1"/>
              <a:t>vllm:prompt_tokens_total</a:t>
            </a:r>
            <a:r>
              <a:rPr lang="en-US" sz="1600"/>
              <a:t>` - Prompt token counters</a:t>
            </a:r>
          </a:p>
          <a:p>
            <a:r>
              <a:rPr lang="en-US" sz="1600"/>
              <a:t>- `</a:t>
            </a:r>
            <a:r>
              <a:rPr lang="en-US" sz="1600" err="1"/>
              <a:t>vllm:generation_tokens_total</a:t>
            </a:r>
            <a:r>
              <a:rPr lang="en-US" sz="1600"/>
              <a:t>` - Generation token counters</a:t>
            </a:r>
          </a:p>
          <a:p>
            <a:r>
              <a:rPr lang="en-US" sz="1600"/>
              <a:t>- `</a:t>
            </a:r>
            <a:r>
              <a:rPr lang="en-US" sz="1600" err="1"/>
              <a:t>vllm:prefix_cache_hits_total</a:t>
            </a:r>
            <a:r>
              <a:rPr lang="en-US" sz="1600"/>
              <a:t>` - Prefix cache hit counters</a:t>
            </a:r>
          </a:p>
          <a:p>
            <a:r>
              <a:rPr lang="en-US" sz="1600"/>
              <a:t>- `</a:t>
            </a:r>
            <a:r>
              <a:rPr lang="en-US" sz="1600" err="1"/>
              <a:t>vllm:prefix_cache_queries_total</a:t>
            </a:r>
            <a:r>
              <a:rPr lang="en-US" sz="1600"/>
              <a:t>` - Prefix cache query counters</a:t>
            </a:r>
          </a:p>
        </p:txBody>
      </p:sp>
    </p:spTree>
    <p:extLst>
      <p:ext uri="{BB962C8B-B14F-4D97-AF65-F5344CB8AC3E}">
        <p14:creationId xmlns:p14="http://schemas.microsoft.com/office/powerpoint/2010/main" val="1182219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FCE49-C73F-0E24-D1AD-A440EE8F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F9844A-B5EF-681F-11A5-32591C3665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73DE05-7D75-9AE9-2282-2F4893ED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Cost Metrics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31E09C5-0B75-9130-07C7-69A734ED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63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234C31-121F-2BDF-E2D1-4C03FDC3F3DA}"/>
              </a:ext>
            </a:extLst>
          </p:cNvPr>
          <p:cNvGraphicFramePr>
            <a:graphicFrameLocks noGrp="1"/>
          </p:cNvGraphicFramePr>
          <p:nvPr/>
        </p:nvGraphicFramePr>
        <p:xfrm>
          <a:off x="444500" y="1220864"/>
          <a:ext cx="10972800" cy="518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7124">
                  <a:extLst>
                    <a:ext uri="{9D8B030D-6E8A-4147-A177-3AD203B41FA5}">
                      <a16:colId xmlns:a16="http://schemas.microsoft.com/office/drawing/2014/main" val="4275935354"/>
                    </a:ext>
                  </a:extLst>
                </a:gridCol>
                <a:gridCol w="6655676">
                  <a:extLst>
                    <a:ext uri="{9D8B030D-6E8A-4147-A177-3AD203B41FA5}">
                      <a16:colId xmlns:a16="http://schemas.microsoft.com/office/drawing/2014/main" val="4199608730"/>
                    </a:ext>
                  </a:extLst>
                </a:gridCol>
              </a:tblGrid>
              <a:tr h="395890">
                <a:tc>
                  <a:txBody>
                    <a:bodyPr/>
                    <a:lstStyle/>
                    <a:p>
                      <a:r>
                        <a:rPr lang="en-IL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Can Be Broken Down by </a:t>
                      </a:r>
                      <a:r>
                        <a:rPr lang="en-IL">
                          <a:hlinkClick r:id="rId3" action="ppaction://hlinksldjump"/>
                        </a:rPr>
                        <a:t>Attributes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3240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/>
                        <a:t>Overall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AI phase, model, model variant, </a:t>
                      </a:r>
                      <a:r>
                        <a:rPr lang="en-IL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client ID, user ID, workload ID, </a:t>
                      </a:r>
                      <a:r>
                        <a:rPr lang="en-IL"/>
                        <a:t>cluster region,</a:t>
                      </a:r>
                      <a:r>
                        <a:rPr lang="en-IL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user region, workload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582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/>
                        <a:t>Cost per token / million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/>
                        <a:t>AI phase, model, model variant, client &amp; user ID, workload ID, cluster region, cluster ID, llm-d instance, </a:t>
                      </a:r>
                      <a:r>
                        <a:rPr lang="en-IL" b="1"/>
                        <a:t>input tokens, output tokens, tool tokens, workload type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108654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latinLnBrk="0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model, model variant, </a:t>
                      </a:r>
                      <a:r>
                        <a:rPr lang="en-IL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client ID, workload ID,</a:t>
                      </a:r>
                      <a:r>
                        <a:rPr lang="en-IL"/>
                        <a:t> cluster ID, cluster region, llm-d 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13788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latinLnBrk="0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Caching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AI phase, model, model variant, </a:t>
                      </a:r>
                      <a:r>
                        <a:rPr lang="en-IL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client ID, workload ID, </a:t>
                      </a:r>
                      <a:r>
                        <a:rPr lang="en-IL"/>
                        <a:t>cluster ID, cluster region, llm-d instance</a:t>
                      </a: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95222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/>
                        <a:t>Idle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</a:t>
                      </a:r>
                      <a:r>
                        <a:rPr lang="en-IL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verall, model, model variant, </a:t>
                      </a:r>
                      <a:r>
                        <a:rPr lang="en-IL"/>
                        <a:t>cluster ID, cluster region, llm-d 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8407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/>
                        <a:t>Tool Usage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AI phase</a:t>
                      </a:r>
                      <a:r>
                        <a:rPr lang="en-IL"/>
                        <a:t>, model, model variant, client &amp; user ID, workload ID, cluster region, cluster ID, llm-d instance, </a:t>
                      </a:r>
                      <a:r>
                        <a:rPr lang="en-IL" b="0"/>
                        <a:t>workload type</a:t>
                      </a:r>
                    </a:p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025231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/>
                        <a:t>Overhead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Staff, Model Training, Data Center Overhead,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7210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227B6E8-96D2-79E2-A6F1-CE4C71711093}"/>
              </a:ext>
            </a:extLst>
          </p:cNvPr>
          <p:cNvSpPr txBox="1"/>
          <p:nvPr/>
        </p:nvSpPr>
        <p:spPr>
          <a:xfrm>
            <a:off x="614855" y="6479628"/>
            <a:ext cx="914400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IL" sz="20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Note: Costs may be broken down into allocation, usage and overhead as described </a:t>
            </a:r>
            <a:r>
              <a:rPr lang="en-IL" sz="20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  <a:hlinkClick r:id="rId4"/>
              </a:rPr>
              <a:t>here</a:t>
            </a:r>
            <a:r>
              <a:rPr lang="en-IL" sz="200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7960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754C2-4B31-462B-3CE1-538C328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647536-421E-A141-ECE9-5FCFAFAFE3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51F3A7-25B4-4390-28CF-C06B58E9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Leverage Existing Metrics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AE6D331-521E-62E7-88A8-F99BF58F1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63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2569F7-99DD-0052-4BB9-F048DB398064}"/>
              </a:ext>
            </a:extLst>
          </p:cNvPr>
          <p:cNvGraphicFramePr>
            <a:graphicFrameLocks noGrp="1"/>
          </p:cNvGraphicFramePr>
          <p:nvPr/>
        </p:nvGraphicFramePr>
        <p:xfrm>
          <a:off x="207579" y="1250030"/>
          <a:ext cx="1160342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780">
                  <a:extLst>
                    <a:ext uri="{9D8B030D-6E8A-4147-A177-3AD203B41FA5}">
                      <a16:colId xmlns:a16="http://schemas.microsoft.com/office/drawing/2014/main" val="4275935354"/>
                    </a:ext>
                  </a:extLst>
                </a:gridCol>
                <a:gridCol w="3528228">
                  <a:extLst>
                    <a:ext uri="{9D8B030D-6E8A-4147-A177-3AD203B41FA5}">
                      <a16:colId xmlns:a16="http://schemas.microsoft.com/office/drawing/2014/main" val="4199608730"/>
                    </a:ext>
                  </a:extLst>
                </a:gridCol>
                <a:gridCol w="3180206">
                  <a:extLst>
                    <a:ext uri="{9D8B030D-6E8A-4147-A177-3AD203B41FA5}">
                      <a16:colId xmlns:a16="http://schemas.microsoft.com/office/drawing/2014/main" val="2681126373"/>
                    </a:ext>
                  </a:extLst>
                </a:gridCol>
                <a:gridCol w="3180206">
                  <a:extLst>
                    <a:ext uri="{9D8B030D-6E8A-4147-A177-3AD203B41FA5}">
                      <a16:colId xmlns:a16="http://schemas.microsoft.com/office/drawing/2014/main" val="3651742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L">
                          <a:highlight>
                            <a:srgbClr val="00FF00"/>
                          </a:highlight>
                        </a:rPr>
                        <a:t>Cost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/>
                        <a:t>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>
                          <a:highlight>
                            <a:srgbClr val="FFFF00"/>
                          </a:highlight>
                        </a:rPr>
                        <a:t>Existing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>
                          <a:highlight>
                            <a:srgbClr val="FFFF00"/>
                          </a:highlight>
                        </a:rPr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3240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400"/>
                        <a:t>Overall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/>
                        <a:t>AI phase, model, model variant, </a:t>
                      </a:r>
                      <a:r>
                        <a:rPr lang="en-IL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client ID, user ID, workload ID, </a:t>
                      </a:r>
                      <a:r>
                        <a:rPr lang="en-IL" sz="1200"/>
                        <a:t>cluster region,</a:t>
                      </a:r>
                      <a:r>
                        <a:rPr lang="en-IL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user region, workload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>
                          <a:solidFill>
                            <a:schemeClr val="bg1"/>
                          </a:solidFill>
                        </a:rPr>
                        <a:t>OpenCost: k8s costs, OpenCost: cloud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C</a:t>
                      </a:r>
                      <a:r>
                        <a:rPr lang="en-IL" sz="1400">
                          <a:solidFill>
                            <a:schemeClr val="bg1"/>
                          </a:solidFill>
                        </a:rPr>
                        <a:t>lient, user, workload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582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400"/>
                        <a:t>Cost per token / million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200"/>
                        <a:t>AI phase, model, model variant, client &amp; user ID, workload ID, cluster region, cluster ID, llm-d instance, </a:t>
                      </a:r>
                      <a:r>
                        <a:rPr lang="en-IL" sz="1200" b="1"/>
                        <a:t>input tokens, output tokens, tool tokens, workload type</a:t>
                      </a:r>
                      <a:endParaRPr lang="en-I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`</a:t>
                      </a:r>
                      <a:r>
                        <a:rPr lang="en-US" sz="1400" err="1"/>
                        <a:t>vllm:prompt_tokens_total</a:t>
                      </a:r>
                      <a:r>
                        <a:rPr lang="en-US" sz="1400"/>
                        <a:t>` - Prompt token counters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/>
                        <a:t>`</a:t>
                      </a:r>
                      <a:r>
                        <a:rPr lang="en-US" sz="1400" err="1"/>
                        <a:t>vllm:generation_tokens_total</a:t>
                      </a:r>
                      <a:r>
                        <a:rPr lang="en-US" sz="1400"/>
                        <a:t>` - Generation token counters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err="1"/>
                        <a:t>OpenCost</a:t>
                      </a:r>
                      <a:r>
                        <a:rPr lang="en-US" sz="1400"/>
                        <a:t> k8s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</a:t>
                      </a:r>
                      <a:r>
                        <a:rPr lang="en-IL" sz="1400"/>
                        <a:t>ool tokens</a:t>
                      </a:r>
                      <a:br>
                        <a:rPr lang="en-IL" sz="1400"/>
                      </a:br>
                      <a:r>
                        <a:rPr lang="en-IL" sz="1400"/>
                        <a:t>client, user, workload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108654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latinLnBrk="0"/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/>
                        <a:t>model, model variant, </a:t>
                      </a:r>
                      <a:r>
                        <a:rPr lang="en-IL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client ID, workload ID,</a:t>
                      </a:r>
                      <a:r>
                        <a:rPr lang="en-IL" sz="1200"/>
                        <a:t> cluster ID, cluster region, llm-d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/>
                        <a:t>vllm:kv_cache_usage_perc</a:t>
                      </a:r>
                      <a:endParaRPr lang="en-IL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/>
                        <a:t>client, user, workload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13788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latinLnBrk="0"/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Caching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/>
                        <a:t>AI phase, model, model variant, </a:t>
                      </a:r>
                      <a:r>
                        <a:rPr lang="en-IL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client ID, workload ID, </a:t>
                      </a:r>
                      <a:r>
                        <a:rPr lang="en-IL" sz="1200"/>
                        <a:t>cluster ID, cluster region, llm-d instance</a:t>
                      </a:r>
                      <a:endParaRPr lang="en-US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`</a:t>
                      </a:r>
                      <a:r>
                        <a:rPr lang="en-US" sz="1400" err="1"/>
                        <a:t>vllm:prefix_cache_hits_total</a:t>
                      </a:r>
                      <a:r>
                        <a:rPr lang="en-US" sz="1400"/>
                        <a:t>` - Prefix cache hit counters</a:t>
                      </a:r>
                    </a:p>
                    <a:p>
                      <a:r>
                        <a:rPr lang="en-US" sz="1400"/>
                        <a:t>- `</a:t>
                      </a:r>
                      <a:r>
                        <a:rPr lang="en-US" sz="1400" err="1"/>
                        <a:t>vllm:prefix_cache_queries_total</a:t>
                      </a:r>
                      <a:r>
                        <a:rPr lang="en-US" sz="1400"/>
                        <a:t>` </a:t>
                      </a:r>
                      <a:endParaRPr lang="en-IL" sz="1400"/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400" err="1"/>
                        <a:t>OpenCost</a:t>
                      </a:r>
                      <a:r>
                        <a:rPr lang="en-US" sz="1400"/>
                        <a:t> k8s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/>
                        <a:t>client, user, workload metrics</a:t>
                      </a:r>
                      <a:endParaRPr lang="en-US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95222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400"/>
                        <a:t>Idle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</a:t>
                      </a:r>
                      <a:r>
                        <a:rPr lang="en-IL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verall, model, model variant, </a:t>
                      </a:r>
                      <a:r>
                        <a:rPr lang="en-IL" sz="1200"/>
                        <a:t>cluster ID, cluster region, llm-d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/>
                        <a:t>OpenCost: Idle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</a:t>
                      </a:r>
                      <a:r>
                        <a:rPr lang="en-IL" sz="1400"/>
                        <a:t>odel, model variant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8407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400">
                          <a:solidFill>
                            <a:schemeClr val="bg1"/>
                          </a:solidFill>
                        </a:rPr>
                        <a:t>Tool Usage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200">
                          <a:solidFill>
                            <a:schemeClr val="bg1"/>
                          </a:solidFill>
                        </a:rPr>
                        <a:t>AI phase, model, model variant, client &amp; user ID, workload ID, cluster region, cluster ID, llm-d instance, </a:t>
                      </a:r>
                      <a:r>
                        <a:rPr lang="en-IL" sz="1200" b="0">
                          <a:solidFill>
                            <a:schemeClr val="bg1"/>
                          </a:solidFill>
                        </a:rPr>
                        <a:t>workload type</a:t>
                      </a:r>
                    </a:p>
                    <a:p>
                      <a:endParaRPr lang="en-IL" sz="12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40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>
                          <a:solidFill>
                            <a:schemeClr val="accent6"/>
                          </a:solidFill>
                        </a:rPr>
                        <a:t>No tool token statistics collected by vllm nor tool services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025231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400"/>
                        <a:t>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200"/>
                        <a:t>Staff, Model Training, Data Center Overhead, …</a:t>
                      </a:r>
                    </a:p>
                    <a:p>
                      <a:endParaRPr lang="en-I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/>
                        <a:t>Custom config for staff, data center, and other overhead in OpenCost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721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089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2560B-58CB-71EE-75A4-C77489F6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3A6DCD-F45C-A233-35A0-25A3A64F8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75ADE-E484-70A8-410D-085891C2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Leverage Existing Metrics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9560768-163A-3D2D-DAFD-D26938BDC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63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CF5D36-F73A-0BD7-F6D8-55D0AA2E9282}"/>
              </a:ext>
            </a:extLst>
          </p:cNvPr>
          <p:cNvGraphicFramePr>
            <a:graphicFrameLocks noGrp="1"/>
          </p:cNvGraphicFramePr>
          <p:nvPr/>
        </p:nvGraphicFramePr>
        <p:xfrm>
          <a:off x="522889" y="1264920"/>
          <a:ext cx="11146222" cy="50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918">
                  <a:extLst>
                    <a:ext uri="{9D8B030D-6E8A-4147-A177-3AD203B41FA5}">
                      <a16:colId xmlns:a16="http://schemas.microsoft.com/office/drawing/2014/main" val="4275935354"/>
                    </a:ext>
                  </a:extLst>
                </a:gridCol>
                <a:gridCol w="4389652">
                  <a:extLst>
                    <a:ext uri="{9D8B030D-6E8A-4147-A177-3AD203B41FA5}">
                      <a16:colId xmlns:a16="http://schemas.microsoft.com/office/drawing/2014/main" val="2681126373"/>
                    </a:ext>
                  </a:extLst>
                </a:gridCol>
                <a:gridCol w="4389652">
                  <a:extLst>
                    <a:ext uri="{9D8B030D-6E8A-4147-A177-3AD203B41FA5}">
                      <a16:colId xmlns:a16="http://schemas.microsoft.com/office/drawing/2014/main" val="3651742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L">
                          <a:highlight>
                            <a:srgbClr val="00FF00"/>
                          </a:highlight>
                        </a:rPr>
                        <a:t>Cost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>
                          <a:highlight>
                            <a:srgbClr val="FFFF00"/>
                          </a:highlight>
                        </a:rPr>
                        <a:t>Existing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>
                          <a:highlight>
                            <a:srgbClr val="FFFF00"/>
                          </a:highlight>
                        </a:rPr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3240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/>
                        <a:t>Overall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>
                          <a:solidFill>
                            <a:schemeClr val="bg1"/>
                          </a:solidFill>
                        </a:rPr>
                        <a:t>OpenCost: k8s costs, OpenCost: cloud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</a:t>
                      </a:r>
                      <a:r>
                        <a:rPr lang="en-IL" sz="1600">
                          <a:solidFill>
                            <a:schemeClr val="bg1"/>
                          </a:solidFill>
                        </a:rPr>
                        <a:t>lient, user, workload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582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600"/>
                        <a:t>Cost per token / million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 `</a:t>
                      </a:r>
                      <a:r>
                        <a:rPr lang="en-US" sz="1600" err="1"/>
                        <a:t>vllm:prompt_tokens_total</a:t>
                      </a:r>
                      <a:r>
                        <a:rPr lang="en-US" sz="1600"/>
                        <a:t>` - Prompt token counters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/>
                        <a:t>`</a:t>
                      </a:r>
                      <a:r>
                        <a:rPr lang="en-US" sz="1600" err="1"/>
                        <a:t>vllm:generation_tokens_total</a:t>
                      </a:r>
                      <a:r>
                        <a:rPr lang="en-US" sz="1600"/>
                        <a:t>` - Generation token counters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err="1"/>
                        <a:t>OpenCost</a:t>
                      </a:r>
                      <a:r>
                        <a:rPr lang="en-US" sz="1600"/>
                        <a:t> k8s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T</a:t>
                      </a:r>
                      <a:r>
                        <a:rPr lang="en-IL" sz="1600"/>
                        <a:t>ool tokens</a:t>
                      </a:r>
                      <a:br>
                        <a:rPr lang="en-IL" sz="1600"/>
                      </a:br>
                      <a:r>
                        <a:rPr lang="en-IL" sz="1600"/>
                        <a:t>client, user, workload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108654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latinLnBrk="0"/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/>
                        <a:t>vllm:kv_cache_usage_perc</a:t>
                      </a:r>
                      <a:endParaRPr lang="en-IL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client, user, workload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13788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pPr latinLnBrk="0"/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Caching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 `</a:t>
                      </a:r>
                      <a:r>
                        <a:rPr lang="en-US" sz="1600" err="1"/>
                        <a:t>vllm:prefix_cache_hits_total</a:t>
                      </a:r>
                      <a:r>
                        <a:rPr lang="en-US" sz="1600"/>
                        <a:t>` - Prefix cache hit counters</a:t>
                      </a:r>
                    </a:p>
                    <a:p>
                      <a:r>
                        <a:rPr lang="en-US" sz="1600"/>
                        <a:t>- `</a:t>
                      </a:r>
                      <a:r>
                        <a:rPr lang="en-US" sz="1600" err="1"/>
                        <a:t>vllm:prefix_cache_queries_total</a:t>
                      </a:r>
                      <a:r>
                        <a:rPr lang="en-US" sz="1600"/>
                        <a:t>` </a:t>
                      </a:r>
                      <a:endParaRPr lang="en-IL" sz="1600"/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err="1"/>
                        <a:t>OpenCost</a:t>
                      </a:r>
                      <a:r>
                        <a:rPr lang="en-US" sz="1600"/>
                        <a:t> k8s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client, user, workload metrics</a:t>
                      </a:r>
                      <a:endParaRPr lang="en-US" sz="16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95222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/>
                        <a:t>Idle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OpenCost: Idle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</a:t>
                      </a:r>
                      <a:r>
                        <a:rPr lang="en-IL" sz="1600"/>
                        <a:t>odel, model variant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8407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>
                          <a:solidFill>
                            <a:schemeClr val="bg1"/>
                          </a:solidFill>
                        </a:rPr>
                        <a:t>Tool Usage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>
                          <a:solidFill>
                            <a:schemeClr val="accent6"/>
                          </a:solidFill>
                        </a:rPr>
                        <a:t>No tool token statistics collected by vllm nor tool services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025231"/>
                  </a:ext>
                </a:extLst>
              </a:tr>
              <a:tr h="395890">
                <a:tc>
                  <a:txBody>
                    <a:bodyPr/>
                    <a:lstStyle/>
                    <a:p>
                      <a:r>
                        <a:rPr lang="en-IL" sz="1600"/>
                        <a:t>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600"/>
                        <a:t>Custom config for staff, data center, and other overhead in OpenCost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721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53863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IBM Services Palette Final">
      <a:dk1>
        <a:srgbClr val="000000"/>
      </a:dk1>
      <a:lt1>
        <a:srgbClr val="051243"/>
      </a:lt1>
      <a:dk2>
        <a:srgbClr val="F3F3F3"/>
      </a:dk2>
      <a:lt2>
        <a:srgbClr val="FFFFFF"/>
      </a:lt2>
      <a:accent1>
        <a:srgbClr val="6EA6FF"/>
      </a:accent1>
      <a:accent2>
        <a:srgbClr val="0F6DFF"/>
      </a:accent2>
      <a:accent3>
        <a:srgbClr val="0530AD"/>
      </a:accent3>
      <a:accent4>
        <a:srgbClr val="00BAB6"/>
      </a:accent4>
      <a:accent5>
        <a:srgbClr val="924CFC"/>
      </a:accent5>
      <a:accent6>
        <a:srgbClr val="D7306D"/>
      </a:accent6>
      <a:hlink>
        <a:srgbClr val="0F6DFF"/>
      </a:hlink>
      <a:folHlink>
        <a:srgbClr val="E0E0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wrap="square" lIns="0" tIns="0" rIns="0" bIns="0" rtlCol="0">
        <a:noAutofit/>
      </a:bodyPr>
      <a:lstStyle>
        <a:defPPr>
          <a:lnSpc>
            <a:spcPct val="105000"/>
          </a:lnSpc>
          <a:spcBef>
            <a:spcPts val="1000"/>
          </a:spcBef>
          <a:defRPr sz="2000" dirty="0" err="1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C6828B74-F0D0-A24D-A1CD-8C9C5E64D9B6}" vid="{55A5562E-CE6F-5943-A8BC-D50EDBC31F3E}"/>
    </a:ext>
  </a:extLst>
</a:theme>
</file>

<file path=ppt/theme/theme2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Presentation6" id="{C6828B74-F0D0-A24D-A1CD-8C9C5E64D9B6}" vid="{2EA1A7FA-2085-0E4D-AC20-7D80F864027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1644</TotalTime>
  <Words>4853</Words>
  <Application>Microsoft Macintosh PowerPoint</Application>
  <PresentationFormat>Widescreen</PresentationFormat>
  <Paragraphs>641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.AppleSystemUIFont</vt:lpstr>
      <vt:lpstr>Arial</vt:lpstr>
      <vt:lpstr>Arial Regular</vt:lpstr>
      <vt:lpstr>Calibri</vt:lpstr>
      <vt:lpstr>Courier New</vt:lpstr>
      <vt:lpstr>IBM Plex Sans</vt:lpstr>
      <vt:lpstr>IBM Plex Sans ExtLt</vt:lpstr>
      <vt:lpstr>IBM Plex Sans Light</vt:lpstr>
      <vt:lpstr>LucidaGrande</vt:lpstr>
      <vt:lpstr>Slack-Lato</vt:lpstr>
      <vt:lpstr>Times</vt:lpstr>
      <vt:lpstr>Wingdings</vt:lpstr>
      <vt:lpstr>BLACK</vt:lpstr>
      <vt:lpstr>IBM presentation template</vt:lpstr>
      <vt:lpstr>PowerPoint Presentation</vt:lpstr>
      <vt:lpstr>Problem</vt:lpstr>
      <vt:lpstr>SaaS Model Prices</vt:lpstr>
      <vt:lpstr>Llm-d Cost Use Cases</vt:lpstr>
      <vt:lpstr>Cost vs Price</vt:lpstr>
      <vt:lpstr>Existing (Non-AI) Cost Tools</vt:lpstr>
      <vt:lpstr>OpenCost</vt:lpstr>
      <vt:lpstr>NVIDIA DCGM  included out of the box with OpenCost </vt:lpstr>
      <vt:lpstr>Inference Cost Monitoring</vt:lpstr>
      <vt:lpstr>Architecture</vt:lpstr>
      <vt:lpstr>Status</vt:lpstr>
      <vt:lpstr>OpenCost POC </vt:lpstr>
      <vt:lpstr>PowerPoint Presentation</vt:lpstr>
      <vt:lpstr>PowerPoint Presentation</vt:lpstr>
      <vt:lpstr>OpenCost POC </vt:lpstr>
      <vt:lpstr>PowerPoint Presentation</vt:lpstr>
      <vt:lpstr>Self Hosted Inference Costs vs Frontier Model Pricing</vt:lpstr>
      <vt:lpstr>Llm-d Concepts</vt:lpstr>
      <vt:lpstr>Existing Metrics </vt:lpstr>
      <vt:lpstr>Attributes</vt:lpstr>
      <vt:lpstr>SaaS Model Costs</vt:lpstr>
      <vt:lpstr>vLLM Metrics</vt:lpstr>
      <vt:lpstr>llm-d Metrics</vt:lpstr>
      <vt:lpstr>Proposed Cost Metrics </vt:lpstr>
      <vt:lpstr>Leverage Existing Metrics</vt:lpstr>
      <vt:lpstr>Leverage Existing Metrics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Sima Nadler</dc:creator>
  <cp:keywords/>
  <dc:description/>
  <cp:lastModifiedBy>SIMA NADLER</cp:lastModifiedBy>
  <cp:revision>7</cp:revision>
  <cp:lastPrinted>2022-09-04T15:14:36Z</cp:lastPrinted>
  <dcterms:created xsi:type="dcterms:W3CDTF">2024-11-04T07:04:33Z</dcterms:created>
  <dcterms:modified xsi:type="dcterms:W3CDTF">2026-06-21T10:07:29Z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70bcdf-e424-40e3-9ceb-40cf94994388_SiteId">
    <vt:lpwstr>fcf67057-50c9-4ad4-98f3-ffca64add9e9</vt:lpwstr>
  </property>
  <property fmtid="{D5CDD505-2E9C-101B-9397-08002B2CF9AE}" pid="3" name="Sensitivity">
    <vt:lpwstr>IBM Confidential</vt:lpwstr>
  </property>
  <property fmtid="{D5CDD505-2E9C-101B-9397-08002B2CF9AE}" pid="4" name="MSIP_Label_4470bcdf-e424-40e3-9ceb-40cf94994388_Enabled">
    <vt:lpwstr>True</vt:lpwstr>
  </property>
  <property fmtid="{D5CDD505-2E9C-101B-9397-08002B2CF9AE}" pid="5" name="MSIP_Label_4470bcdf-e424-40e3-9ceb-40cf94994388_Removed">
    <vt:lpwstr>False</vt:lpwstr>
  </property>
  <property fmtid="{D5CDD505-2E9C-101B-9397-08002B2CF9AE}" pid="6" name="MSIP_Label_4470bcdf-e424-40e3-9ceb-40cf94994388_SetDate">
    <vt:lpwstr>2024-11-04T12:52:25Z</vt:lpwstr>
  </property>
  <property fmtid="{D5CDD505-2E9C-101B-9397-08002B2CF9AE}" pid="7" name="MSIP_Label_4470bcdf-e424-40e3-9ceb-40cf94994388_ActionId">
    <vt:lpwstr>ce62e497-5000-425b-a96e-33afb3bbc0bd</vt:lpwstr>
  </property>
  <property fmtid="{D5CDD505-2E9C-101B-9397-08002B2CF9AE}" pid="8" name="MSIP_Label_4470bcdf-e424-40e3-9ceb-40cf94994388_Name">
    <vt:lpwstr>IBM Confidential</vt:lpwstr>
  </property>
  <property fmtid="{D5CDD505-2E9C-101B-9397-08002B2CF9AE}" pid="9" name="MSIP_Label_4470bcdf-e424-40e3-9ceb-40cf94994388_Extended_MSFT_Method">
    <vt:lpwstr>Standard</vt:lpwstr>
  </property>
</Properties>
</file>